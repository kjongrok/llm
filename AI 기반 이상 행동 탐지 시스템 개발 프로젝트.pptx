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.png"  /><Relationship Id="rId11" Type="http://schemas.openxmlformats.org/officeDocument/2006/relationships/image" Target="../media/image10.png"  /><Relationship Id="rId12" Type="http://schemas.openxmlformats.org/officeDocument/2006/relationships/image" Target="../media/image10.png"  /><Relationship Id="rId13" Type="http://schemas.openxmlformats.org/officeDocument/2006/relationships/image" Target="../media/image10.png"  /><Relationship Id="rId14" Type="http://schemas.openxmlformats.org/officeDocument/2006/relationships/image" Target="../media/image6.png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7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8.png"  /><Relationship Id="rId8" Type="http://schemas.openxmlformats.org/officeDocument/2006/relationships/image" Target="../media/image11.png"  /><Relationship Id="rId9" Type="http://schemas.openxmlformats.org/officeDocument/2006/relationships/image" Target="../media/image10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Relationship Id="rId7" Type="http://schemas.openxmlformats.org/officeDocument/2006/relationships/image" Target="../media/image17.png"  /><Relationship Id="rId8" Type="http://schemas.openxmlformats.org/officeDocument/2006/relationships/image" Target="../media/image18.png"  /><Relationship Id="rId9" Type="http://schemas.openxmlformats.org/officeDocument/2006/relationships/image" Target="../media/image1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Relationship Id="rId5" Type="http://schemas.openxmlformats.org/officeDocument/2006/relationships/image" Target="../media/image2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Relationship Id="rId5" Type="http://schemas.openxmlformats.org/officeDocument/2006/relationships/image" Target="../media/image2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Relationship Id="rId5" Type="http://schemas.openxmlformats.org/officeDocument/2006/relationships/image" Target="../media/image2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6.png"  /><Relationship Id="rId4" Type="http://schemas.openxmlformats.org/officeDocument/2006/relationships/image" Target="../media/image2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2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8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39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60198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3746500" y="8966200"/>
            <a:ext cx="60706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20170426" y="2961927"/>
            <a:ext cx="5943600" cy="1974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65200" y="6781800"/>
            <a:ext cx="990600" cy="990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3126700" y="-38100"/>
            <a:ext cx="1257300" cy="6134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5200" y="609600"/>
            <a:ext cx="19672300" cy="4800600"/>
          </a:xfrm>
          <a:prstGeom prst="rect">
            <a:avLst/>
          </a:prstGeom>
        </p:spPr>
        <p:txBody>
          <a:bodyPr lIns="0" tIns="184573" rIns="0" bIns="184573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14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AI 기반 이상 행동 탐지 시스템 개발 프로젝트</a:t>
            </a:r>
            <a:endParaRPr lang="en-US" sz="14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391400" y="7315200"/>
            <a:ext cx="157480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YOLOv8과 LSTM Autoencoder를 활용한 실시간 이상 행동 탐지 및 분석</a:t>
            </a:r>
            <a:endParaRPr lang="en-US" sz="3466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0600" y="10363200"/>
            <a:ext cx="47117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20</a:t>
            </a:r>
            <a:r>
              <a:rPr lang="en-US" altLang="ko-KR" sz="3200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26.07.01</a:t>
            </a:r>
            <a:endParaRPr lang="en-US" altLang="ko-KR" sz="3200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 rot="16200000">
            <a:off x="20866100" y="3657600"/>
            <a:ext cx="58039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2533" b="0" i="0" u="none" strike="noStrike" cap="all">
                <a:solidFill>
                  <a:srgbClr val="f1f0eb"/>
                </a:solidFill>
                <a:latin typeface="Pretendard ExtraLight"/>
                <a:ea typeface="Pretendard ExtraLight"/>
                <a:cs typeface="Pretendard ExtraLight"/>
              </a:rPr>
              <a:t>presentation template</a:t>
            </a:r>
            <a:endParaRPr lang="en-US" sz="2533" b="0" i="0" u="none" strike="noStrike" cap="all">
              <a:solidFill>
                <a:srgbClr val="f1f0eb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grpSp>
        <p:nvGrpSpPr>
          <p:cNvPr id="11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3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15" name="TextBox 8"/>
          <p:cNvSpPr txBox="1"/>
          <p:nvPr/>
        </p:nvSpPr>
        <p:spPr>
          <a:xfrm>
            <a:off x="20345400" y="10668000"/>
            <a:ext cx="47244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3466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발표자 </a:t>
            </a:r>
            <a:r>
              <a:rPr lang="en-US" altLang="ko-KR" sz="3466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:</a:t>
            </a:r>
            <a:r>
              <a:rPr lang="ko-KR" altLang="en-US" sz="3466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김종록</a:t>
            </a:r>
            <a:endParaRPr lang="ko-KR" altLang="en-US" sz="3466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3368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-3835400" y="7454900"/>
            <a:ext cx="10210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7366000"/>
            <a:ext cx="24625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3860800" y="7308850"/>
            <a:ext cx="102235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19200" y="304800"/>
            <a:ext cx="21602700" cy="1638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9200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9200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63700" y="3022600"/>
            <a:ext cx="279400" cy="279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24100" y="44069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프로젝트 배경 및 목표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24100" y="28575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24100" y="51816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프로젝트 배경 및 필요성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목표 및 기대 효과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1569700" y="7454900"/>
            <a:ext cx="102108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3088600" y="0"/>
            <a:ext cx="1295400" cy="2362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385300" y="3060700"/>
            <a:ext cx="2794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045700" y="44450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시스템 구성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45700" y="28956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45700" y="52197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전체 시스템 아키텍처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주요 구성 요소 및 흐름도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7081500" y="3098800"/>
            <a:ext cx="279400" cy="279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741900" y="44831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데이터 및 전처리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741900" y="29337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741900" y="52578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데이터셋 구성 및 특성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전처리 과정 및 방법론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63700" y="8178800"/>
            <a:ext cx="279400" cy="279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324100" y="95504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AI 모델 아키텍처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324100" y="80010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324100" y="103251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YOLOv8 객체 탐지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LSTM Autoencoder 이상 탐지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385300" y="8140700"/>
            <a:ext cx="279400" cy="279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0045700" y="95123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성능 분석 및 최적화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045700" y="79629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045700" y="102870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성능 지표 및 임계값 시뮬레이션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실패 사례 분석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7081500" y="8178800"/>
            <a:ext cx="279400" cy="279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7741900" y="9550400"/>
            <a:ext cx="6350000" cy="6350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l">
              <a:lnSpc>
                <a:spcPct val="107899"/>
              </a:lnSpc>
              <a:defRPr/>
            </a:pPr>
            <a:r>
              <a:rPr lang="en-US" sz="36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문제 해결 및 결론</a:t>
            </a:r>
            <a:endParaRPr lang="en-US" sz="36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741900" y="8001000"/>
            <a:ext cx="27178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3466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  <a:endParaRPr lang="en-US" sz="3466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7741900" y="10325100"/>
            <a:ext cx="6324600" cy="990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Hybrid Rule 및 EMA 적용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 프로젝트 성과 및 향후 계획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0" y="12217400"/>
            <a:ext cx="24384000" cy="1651000"/>
          </a:xfrm>
          <a:prstGeom prst="rect">
            <a:avLst/>
          </a:prstGeom>
        </p:spPr>
      </p:pic>
      <p:sp>
        <p:nvSpPr>
          <p:cNvPr id="35" name=""/>
          <p:cNvSpPr txBox="1"/>
          <p:nvPr/>
        </p:nvSpPr>
        <p:spPr>
          <a:xfrm>
            <a:off x="23545800" y="12801600"/>
            <a:ext cx="377190" cy="46482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500">
                <a:solidFill>
                  <a:schemeClr val="lt1"/>
                </a:solidFill>
              </a:rPr>
              <a:t>2</a:t>
            </a:r>
            <a:endParaRPr lang="en-US" altLang="ko-KR" sz="25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2217400"/>
            <a:ext cx="246253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7086600" y="7124700"/>
            <a:ext cx="101854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프로젝트 배경 및 목표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3000" y="2286000"/>
            <a:ext cx="10121900" cy="11684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ctr">
              <a:lnSpc>
                <a:spcPct val="107899"/>
              </a:lnSpc>
              <a:defRPr/>
            </a:pPr>
            <a:r>
              <a:rPr lang="ko-KR" altLang="en-US" sz="50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프로젝트 추친 배경</a:t>
            </a:r>
            <a:endParaRPr lang="ko-KR" altLang="en-US" sz="50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2000" y="4000500"/>
            <a:ext cx="11049000" cy="781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교통 모니터링의 한계 극복: 기존의 단순 차량 카운팅이나 육안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감시만으로는 심야 시간대의 돌발 상황이나 예측 불가능한 교통 체증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(Anomaly)에 즉각적으로 대응하기 어려움.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시계열(Sequence) 기반 분석의 필요성 대두: 순간적인 화면(프레임)뿐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만 아니라, 과거 교통 흐름의 맥락(Context)을 기억하고 분석하여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선제적으로 위험을 경고할 수 있는 고도화된 AI 솔루션이 필수적.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실시간 처리 속도와 정확도의 딜레마: 고화질 고속도로 CCTV 영상을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렉 없이 초당 30프레임으로 처리하면서도, 동시에 복잡한 딥러닝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연산을 수행해야 하는 기술적 난제 존재.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47700" y="2362200"/>
            <a:ext cx="10121900" cy="1066800"/>
          </a:xfrm>
          <a:prstGeom prst="rect">
            <a:avLst/>
          </a:prstGeom>
        </p:spPr>
        <p:txBody>
          <a:bodyPr lIns="0" tIns="0" rIns="0" bIns="22860" anchor="b"/>
          <a:lstStyle/>
          <a:p>
            <a:pPr lvl="0" algn="ctr">
              <a:lnSpc>
                <a:spcPct val="107899"/>
              </a:lnSpc>
              <a:defRPr/>
            </a:pPr>
            <a:r>
              <a:rPr lang="en-US" sz="5000" b="0" i="0" u="none" strike="noStrike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목표 및 기대 효과</a:t>
            </a:r>
            <a:endParaRPr lang="en-US" sz="5000" b="0" i="0" u="none" strike="noStrike">
              <a:solidFill>
                <a:srgbClr val="22222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839700" y="3873500"/>
            <a:ext cx="11163300" cy="8089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초고속 객체 탐지 파이프라인 구축: 가장 가볍고 빠른 YOLOv8 Nano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모델을 채택하여 실시간 차량(Car, Bus, Truck) 탐지 및 밀집도 분석의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지연(Latency) 문제 해결.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LSTM Autoencoder 기반 지능형 이상 탐지: 시간의 흐름을 기억하는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LSTM 모델을 도입하여, 단순 밀집도가 아닌 '흐름 상의 비정상적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트래픽 패턴'을 스스로 학습하고 탐지하는 시스템 개발.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오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탐지(False Alarm) 최소화 방어 로직 완비: 도메인 지식을 반영한 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endParaRPr lang="ko-KR" alt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Hybrid 룰(야간 동적 튜닝 등)과 EMA(지수 이동 평균) 필터를 융합하여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실무에 즉각 투입 가능한 수준의 높은 신뢰도 확보.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-</a:t>
            </a: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실시간 클라우드 웹 관제 대시보드(MLOps) 구축: 로컬 스크립트를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넘어, Supabase DB와 Streamlit을 연동하여 장소에 구애받지 않고 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  </a:t>
            </a:r>
            <a:r>
              <a:rPr lang="en-US" sz="2800" b="0" i="0" u="none" strike="noStrike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실시간 통계 및 알람을 모니터링하는 완성형 웹 대시보드 서비스 배포.</a:t>
            </a:r>
            <a:endParaRPr lang="en-US" sz="2800" b="0" i="0" u="none" strike="noStrike">
              <a:solidFill>
                <a:srgbClr val="222222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3545800" y="12801600"/>
            <a:ext cx="377190" cy="4648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2500">
                <a:solidFill>
                  <a:schemeClr val="lt1"/>
                </a:solidFill>
              </a:rPr>
              <a:t>3</a:t>
            </a:r>
            <a:endParaRPr lang="en-US" altLang="ko-KR" sz="2500">
              <a:solidFill>
                <a:schemeClr val="lt1"/>
              </a:solidFill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0650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3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4900" y="4826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시스템 개요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8503900" y="7899400"/>
            <a:ext cx="117348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grpSp>
        <p:nvGrpSpPr>
          <p:cNvPr id="30" name=""/>
          <p:cNvGrpSpPr/>
          <p:nvPr/>
        </p:nvGrpSpPr>
        <p:grpSpPr>
          <a:xfrm rot="0">
            <a:off x="0" y="12065000"/>
            <a:ext cx="24384000" cy="1651000"/>
            <a:chOff x="0" y="12217400"/>
            <a:chExt cx="24384000" cy="1651000"/>
          </a:xfrm>
        </p:grpSpPr>
        <p:pic>
          <p:nvPicPr>
            <p:cNvPr id="31" name="Picture 1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32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4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pic>
        <p:nvPicPr>
          <p:cNvPr id="33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590800" y="76200"/>
            <a:ext cx="1943100" cy="9753600"/>
          </a:xfrm>
          <a:prstGeom prst="rect">
            <a:avLst/>
          </a:prstGeom>
        </p:spPr>
      </p:pic>
      <p:pic>
        <p:nvPicPr>
          <p:cNvPr id="34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743700" y="76200"/>
            <a:ext cx="1943100" cy="9753600"/>
          </a:xfrm>
          <a:prstGeom prst="rect">
            <a:avLst/>
          </a:prstGeom>
        </p:spPr>
      </p:pic>
      <p:pic>
        <p:nvPicPr>
          <p:cNvPr id="35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477500" y="76200"/>
            <a:ext cx="1943100" cy="9753600"/>
          </a:xfrm>
          <a:prstGeom prst="rect">
            <a:avLst/>
          </a:prstGeom>
        </p:spPr>
      </p:pic>
      <p:pic>
        <p:nvPicPr>
          <p:cNvPr id="36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4744700" y="76200"/>
            <a:ext cx="1943100" cy="9753600"/>
          </a:xfrm>
          <a:prstGeom prst="rect">
            <a:avLst/>
          </a:prstGeom>
        </p:spPr>
      </p:pic>
      <p:pic>
        <p:nvPicPr>
          <p:cNvPr id="37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8783300" y="76200"/>
            <a:ext cx="1943100" cy="97536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1828799" y="7454265"/>
            <a:ext cx="3886200" cy="23736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500"/>
              <a:t>● 고속도로 </a:t>
            </a:r>
            <a:r>
              <a:rPr lang="en-US" altLang="ko-KR" sz="2500"/>
              <a:t>CCTV HLS</a:t>
            </a:r>
            <a:r>
              <a:rPr lang="ko-KR" altLang="en-US" sz="2500"/>
              <a:t> 스트리밍 연동</a:t>
            </a:r>
            <a:endParaRPr lang="ko-KR" altLang="en-US" sz="2500"/>
          </a:p>
          <a:p>
            <a:pPr>
              <a:defRPr/>
            </a:pPr>
            <a:endParaRPr lang="ko-KR" altLang="en-US" sz="2500"/>
          </a:p>
          <a:p>
            <a:pPr>
              <a:defRPr/>
            </a:pPr>
            <a:r>
              <a:rPr lang="ko-KR" altLang="en-US" sz="2500"/>
              <a:t>● 트래픽 로그</a:t>
            </a:r>
            <a:r>
              <a:rPr lang="en-US" altLang="ko-KR" sz="2500"/>
              <a:t>(traffic_features.csv)</a:t>
            </a:r>
            <a:r>
              <a:rPr lang="ko-KR" altLang="en-US" sz="2500"/>
              <a:t> 원천 데이터 확보</a:t>
            </a:r>
            <a:endParaRPr lang="ko-KR" altLang="en-US" sz="2500"/>
          </a:p>
        </p:txBody>
      </p:sp>
      <p:sp>
        <p:nvSpPr>
          <p:cNvPr id="43" name=""/>
          <p:cNvSpPr txBox="1"/>
          <p:nvPr/>
        </p:nvSpPr>
        <p:spPr>
          <a:xfrm>
            <a:off x="6477000" y="6387465"/>
            <a:ext cx="2895600" cy="4705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500"/>
              <a:t>2. </a:t>
            </a:r>
            <a:r>
              <a:rPr lang="ko-KR" altLang="en-US" sz="2500"/>
              <a:t>데이터 전처리</a:t>
            </a:r>
            <a:endParaRPr lang="ko-KR" altLang="en-US"/>
          </a:p>
        </p:txBody>
      </p:sp>
      <p:sp>
        <p:nvSpPr>
          <p:cNvPr id="44" name=""/>
          <p:cNvSpPr txBox="1"/>
          <p:nvPr/>
        </p:nvSpPr>
        <p:spPr>
          <a:xfrm>
            <a:off x="2667000" y="6387465"/>
            <a:ext cx="2895601" cy="468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500"/>
              <a:t>1. </a:t>
            </a:r>
            <a:r>
              <a:rPr lang="ko-KR" altLang="en-US" sz="2500"/>
              <a:t>데이터 수집</a:t>
            </a:r>
            <a:endParaRPr lang="ko-KR" altLang="en-US"/>
          </a:p>
        </p:txBody>
      </p:sp>
      <p:sp>
        <p:nvSpPr>
          <p:cNvPr id="45" name=""/>
          <p:cNvSpPr txBox="1"/>
          <p:nvPr/>
        </p:nvSpPr>
        <p:spPr>
          <a:xfrm>
            <a:off x="10820400" y="6387465"/>
            <a:ext cx="2895600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500"/>
              <a:t>3.</a:t>
            </a:r>
            <a:r>
              <a:rPr lang="ko-KR" altLang="en-US" sz="2500"/>
              <a:t> 모델링</a:t>
            </a:r>
            <a:endParaRPr lang="ko-KR" altLang="en-US" sz="2500"/>
          </a:p>
        </p:txBody>
      </p:sp>
      <p:sp>
        <p:nvSpPr>
          <p:cNvPr id="46" name=""/>
          <p:cNvSpPr txBox="1"/>
          <p:nvPr/>
        </p:nvSpPr>
        <p:spPr>
          <a:xfrm>
            <a:off x="15087600" y="6387465"/>
            <a:ext cx="2895600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500"/>
              <a:t>4.</a:t>
            </a:r>
            <a:r>
              <a:rPr lang="ko-KR" altLang="en-US" sz="2500"/>
              <a:t> 예측</a:t>
            </a:r>
            <a:endParaRPr lang="ko-KR" altLang="en-US" sz="2500"/>
          </a:p>
        </p:txBody>
      </p:sp>
      <p:sp>
        <p:nvSpPr>
          <p:cNvPr id="47" name=""/>
          <p:cNvSpPr txBox="1"/>
          <p:nvPr/>
        </p:nvSpPr>
        <p:spPr>
          <a:xfrm>
            <a:off x="18745200" y="6387465"/>
            <a:ext cx="2895600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500"/>
              <a:t>5.</a:t>
            </a:r>
            <a:r>
              <a:rPr lang="ko-KR" altLang="en-US" sz="2500"/>
              <a:t> 인사이트</a:t>
            </a:r>
            <a:endParaRPr lang="ko-KR" altLang="en-US" sz="2500"/>
          </a:p>
        </p:txBody>
      </p:sp>
      <p:sp>
        <p:nvSpPr>
          <p:cNvPr id="48" name=""/>
          <p:cNvSpPr txBox="1"/>
          <p:nvPr/>
        </p:nvSpPr>
        <p:spPr>
          <a:xfrm>
            <a:off x="5943600" y="7543800"/>
            <a:ext cx="3886199" cy="3131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/>
              <a:t>● </a:t>
            </a:r>
            <a:r>
              <a:rPr lang="en-US" altLang="ko-KR" sz="2500"/>
              <a:t>OpenCV 기반 영상 프레임 추출 및 최적 해상도 리사이징</a:t>
            </a:r>
            <a:endParaRPr lang="en-US" altLang="ko-KR" sz="2500"/>
          </a:p>
          <a:p>
            <a:pPr>
              <a:defRPr/>
            </a:pPr>
            <a:endParaRPr lang="en-US" altLang="ko-KR" sz="2500"/>
          </a:p>
          <a:p>
            <a:pPr>
              <a:defRPr/>
            </a:pPr>
            <a:r>
              <a:rPr lang="ko-KR" altLang="en-US" sz="2500"/>
              <a:t>● 학습 데이터 스케일링(정규화) 및 시계열(Sequence) 텐서 변환</a:t>
            </a:r>
            <a:endParaRPr lang="ko-KR" altLang="en-US" sz="2500"/>
          </a:p>
        </p:txBody>
      </p:sp>
      <p:sp>
        <p:nvSpPr>
          <p:cNvPr id="49" name=""/>
          <p:cNvSpPr txBox="1"/>
          <p:nvPr/>
        </p:nvSpPr>
        <p:spPr>
          <a:xfrm>
            <a:off x="9753600" y="7620000"/>
            <a:ext cx="3886200" cy="198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/>
              <a:t>● 가장 가벼운 </a:t>
            </a:r>
            <a:r>
              <a:rPr lang="en-US" altLang="ko-KR" sz="2500"/>
              <a:t>YOLOv8 Nano </a:t>
            </a:r>
            <a:r>
              <a:rPr lang="ko-KR" altLang="en-US" sz="2500"/>
              <a:t>객체 탐지 모델 도입</a:t>
            </a:r>
            <a:endParaRPr lang="ko-KR" altLang="en-US" sz="2500"/>
          </a:p>
          <a:p>
            <a:pPr>
              <a:defRPr/>
            </a:pPr>
            <a:endParaRPr lang="ko-KR" altLang="en-US" sz="2500"/>
          </a:p>
          <a:p>
            <a:pPr>
              <a:defRPr/>
            </a:pPr>
            <a:r>
              <a:rPr lang="ko-KR" altLang="en-US" sz="2500"/>
              <a:t>● 과거 흐름을 기억하는</a:t>
            </a:r>
            <a:r>
              <a:rPr lang="en-US" altLang="ko-KR" sz="2500"/>
              <a:t> LSTM Autoencoder</a:t>
            </a:r>
            <a:r>
              <a:rPr lang="ko-KR" altLang="en-US" sz="2500"/>
              <a:t> 설계</a:t>
            </a:r>
            <a:endParaRPr lang="ko-KR" altLang="en-US" sz="2500"/>
          </a:p>
        </p:txBody>
      </p:sp>
      <p:sp>
        <p:nvSpPr>
          <p:cNvPr id="50" name=""/>
          <p:cNvSpPr txBox="1"/>
          <p:nvPr/>
        </p:nvSpPr>
        <p:spPr>
          <a:xfrm>
            <a:off x="14097000" y="7620000"/>
            <a:ext cx="3886199" cy="3512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/>
              <a:t>● </a:t>
            </a:r>
            <a:r>
              <a:rPr lang="en-US" altLang="ko-KR" sz="2500"/>
              <a:t>YOLOv8 모델을 통한 실시간 차량 객체 탐지 및 도로 밀집도 도출</a:t>
            </a:r>
            <a:endParaRPr lang="en-US" altLang="ko-KR" sz="2500"/>
          </a:p>
          <a:p>
            <a:pPr>
              <a:defRPr/>
            </a:pPr>
            <a:endParaRPr lang="ko-KR" altLang="en-US" sz="2500"/>
          </a:p>
          <a:p>
            <a:pPr>
              <a:defRPr/>
            </a:pPr>
            <a:r>
              <a:rPr lang="ko-KR" altLang="en-US" sz="2500"/>
              <a:t>● LSTM 모델의 재구성 오차(Reconstruction Error)를 통한 이상치(Anomaly Score) 판단</a:t>
            </a:r>
            <a:endParaRPr lang="ko-KR" altLang="en-US" sz="2500"/>
          </a:p>
        </p:txBody>
      </p:sp>
      <p:sp>
        <p:nvSpPr>
          <p:cNvPr id="51" name=""/>
          <p:cNvSpPr txBox="1"/>
          <p:nvPr/>
        </p:nvSpPr>
        <p:spPr>
          <a:xfrm>
            <a:off x="18135600" y="7543800"/>
            <a:ext cx="3886200" cy="3512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500"/>
              <a:t>● 상위 1~40% 구간 시뮬레이션을 통한 최적의 알람 임계값(Threshold) 설정 가이드 제공</a:t>
            </a:r>
            <a:endParaRPr lang="ko-KR" altLang="en-US" sz="2500"/>
          </a:p>
          <a:p>
            <a:pPr>
              <a:defRPr/>
            </a:pPr>
            <a:endParaRPr lang="ko-KR" altLang="en-US" sz="2500"/>
          </a:p>
          <a:p>
            <a:pPr>
              <a:defRPr/>
            </a:pPr>
            <a:r>
              <a:rPr lang="ko-KR" altLang="en-US" sz="2500"/>
              <a:t>● Supabase &amp; Streamlit 연동으로 직관적인 실시간 교통 관제 시각화 대시보드 구축</a:t>
            </a:r>
            <a:endParaRPr lang="ko-KR" altLang="en-US" sz="2500"/>
          </a:p>
        </p:txBody>
      </p:sp>
      <p:sp>
        <p:nvSpPr>
          <p:cNvPr id="52" name=""/>
          <p:cNvSpPr txBox="1"/>
          <p:nvPr/>
        </p:nvSpPr>
        <p:spPr>
          <a:xfrm>
            <a:off x="1095375" y="2411730"/>
            <a:ext cx="11096625" cy="8534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5000"/>
              <a:t>AI 분석 모델 구축 프로세스</a:t>
            </a:r>
            <a:endParaRPr lang="ko-KR" altLang="en-US" sz="5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2217400"/>
            <a:ext cx="246253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원천 데이터 수집 및 라벨링 전처리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5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6" name="Picture 1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7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5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19" name=""/>
          <p:cNvSpPr txBox="1"/>
          <p:nvPr/>
        </p:nvSpPr>
        <p:spPr>
          <a:xfrm>
            <a:off x="508634" y="4191000"/>
            <a:ext cx="11073766" cy="5120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방대한 원천 데이터(Raw Data): AI Hub 'CCTV 교통 데이터' 등 4.8GB 규모의 수십만 장 JPG 프레임 획득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복잡한 라벨 구조: 객체의 위치 좌표가 매우 복잡하고 무거운 COCO 포맷(JSON) 형태로 제공됨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라벨 파싱 및 변환(Preprocessing): YOLOv8이 빠르게 학습할 수 있도록 가벼운 TXT 포맷으로 스크립트를 짜서 일괄 변환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노이즈 타겟 필터링: 승용차, 버스, 트럭 등 핵심 3대 클래스만 추출하고, 관제 목적과 무관한 보행자 등은 선제적으로 제거</a:t>
            </a:r>
            <a:endParaRPr lang="ko-KR" altLang="en-US" sz="3000"/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39550" y="4038600"/>
            <a:ext cx="11844313" cy="563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2217400"/>
            <a:ext cx="246253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학습용 정형 데이터(CSV) 추출 및 구축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5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6" name="Picture 1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7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6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19" name=""/>
          <p:cNvSpPr txBox="1"/>
          <p:nvPr/>
        </p:nvSpPr>
        <p:spPr>
          <a:xfrm>
            <a:off x="533400" y="2354579"/>
            <a:ext cx="11073766" cy="419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오프라인 모델 학습(Offline Training) 데이터 구축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구축 배경: 실시간 클라우드 관제 시스템을 가동하기에 앞서, 인공지능(LSTM)의 뇌를 학습시킬 방대한 양의 '과거 시계열 데이터셋' 확보가 필수적임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비정형 데이터의 정형화: 4.8GB에 달하는 수십만 장의 방대한 CCTV 원본 영상(비정형 데이터)을 YOLOv8 탐지 엔진에 모두 통과시켜 데이터 정제 시작</a:t>
            </a:r>
            <a:endParaRPr lang="ko-KR" altLang="en-US" sz="3000"/>
          </a:p>
        </p:txBody>
      </p:sp>
      <p:sp>
        <p:nvSpPr>
          <p:cNvPr id="24" name=""/>
          <p:cNvSpPr txBox="1"/>
          <p:nvPr/>
        </p:nvSpPr>
        <p:spPr>
          <a:xfrm>
            <a:off x="533400" y="6858000"/>
            <a:ext cx="11073766" cy="5113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특징 추출(Feature Extraction) 및 데이터 적재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시계열 피처 추출: 모든 프레임에서 실시간으로 승용차(Car), 버스(Bus), 트럭(Truck)의 객체 수를 Count 하고, 이를 기반으로 도로의 혼잡도를 나타내는 '밀집도(Density)' 파생 변수를 수학적으로 산출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정형 데이터(CSV) 구축: 추출된 메타데이터들을 시간 순서대로 엮어 **traffic_features.csv**라는 거대한 시계열 정형 데이터베이스로 최종 구축 (이 거대한 CSV 데이터를 바탕으로 LSTM 챔피언 모델을 학습시킴)</a:t>
            </a:r>
            <a:endParaRPr lang="ko-KR" altLang="en-US" sz="3000"/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258800" y="2286000"/>
            <a:ext cx="8610601" cy="955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2217400"/>
            <a:ext cx="246253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피처 엔지니어링 및 텐서 변환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5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6" name="Picture 1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7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7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19" name=""/>
          <p:cNvSpPr txBox="1"/>
          <p:nvPr/>
        </p:nvSpPr>
        <p:spPr>
          <a:xfrm>
            <a:off x="508634" y="4404360"/>
            <a:ext cx="11073766" cy="466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신규 파생 변수(Feature) 창출: 탐지된 단순 차량 대수(Count)를 활용하여, 해당 프레임의 도로 혼잡도를 수학적으로 수치화한 '밀집도(Density)' 파생 변수 도출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시계열(Sequence) 최적화: 엑셀 같은 평범한 2차원(행/열) 데이터 구조 탈피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3차원 텐서(Tensor) 가공: 1초 전, 2초 전의 과거 흐름을 LSTM이 기억할 수 있도록 (샘플 수, 시간 스텝, 피처 수) 형태의 3차원 시퀀스 텐서로 데이터 최종 가공 완료</a:t>
            </a:r>
            <a:endParaRPr lang="ko-KR" altLang="en-US" sz="3000"/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9" y="4381500"/>
            <a:ext cx="11276714" cy="544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AI 모델 설계 (1) - YOLOv8 기반 객체 탐지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8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pic>
        <p:nvPicPr>
          <p:cNvPr id="1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92000" y="2667000"/>
            <a:ext cx="11563996" cy="904875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508634" y="2735580"/>
            <a:ext cx="11073766" cy="14630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●  YOLOv8 벤치마크 테스트: CCTV 영상 프레임에서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 차량(Car/Bus/Truck)을 실시간 탐지하기 위해 Nano, Small, 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 Medium 3종 모델의 속도(FPS)와 정확도(mAP) 다중 비교</a:t>
            </a: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533400" y="4876800"/>
            <a:ext cx="11073766" cy="1003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트러블슈팅: 정확도가 가장 높은 Medium 모델의 경우, 초당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 30프레임(30fps) 실시간 환경에서 심각한 렉(Lag) 유발</a:t>
            </a:r>
            <a:endParaRPr lang="ko-KR" altLang="en-US" sz="3000"/>
          </a:p>
        </p:txBody>
      </p:sp>
      <p:sp>
        <p:nvSpPr>
          <p:cNvPr id="24" name=""/>
          <p:cNvSpPr txBox="1"/>
          <p:nvPr/>
        </p:nvSpPr>
        <p:spPr>
          <a:xfrm>
            <a:off x="508634" y="6477000"/>
            <a:ext cx="11073766" cy="236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최종 챔피언 (YOLOv8 Nano): 고속도로 환경 특성상 차량 객체가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 커서 가장 가벼운 Nano 모델로도 정확도가 훌륭히 방어됨을 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확인. 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연산량을 대폭 줄여 남은 자원을 LSTM에 집중하는 아키텍처 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     확립</a:t>
            </a:r>
            <a:endParaRPr lang="ko-KR" altLang="en-US"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AI 모델 설계 (2) - YOLOv8 탐지 임계값(Threshold) 최적화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377190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9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37233" y="6995160"/>
            <a:ext cx="11073766" cy="14630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문제 정의: 실시간 고속도로 CCTV 특성상 빛 반사, 가로등 그림자 등으로 인해 차량을 오인식(False Positive)하거나 놓치는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(False Negative) 문제 발생 가능성 존재</a:t>
            </a: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761999" y="8519160"/>
            <a:ext cx="11073766" cy="1463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실험 설계: AI가 객체를 '차량'으로 확신하는 기준 점수(Confidence)를 0.25 / 0.50 / 0.75 세 구간으로 나누어 시각적 벤치마크 수행</a:t>
            </a:r>
            <a:endParaRPr lang="ko-KR" altLang="en-US" sz="3000"/>
          </a:p>
        </p:txBody>
      </p:sp>
      <p:sp>
        <p:nvSpPr>
          <p:cNvPr id="24" name=""/>
          <p:cNvSpPr txBox="1"/>
          <p:nvPr/>
        </p:nvSpPr>
        <p:spPr>
          <a:xfrm>
            <a:off x="12929234" y="6858000"/>
            <a:ext cx="11073766" cy="541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시뮬레이션 결과 및 최종 결정</a:t>
            </a:r>
            <a:endParaRPr lang="ko-KR" altLang="en-US" sz="3000"/>
          </a:p>
        </p:txBody>
      </p:sp>
      <p:sp>
        <p:nvSpPr>
          <p:cNvPr id="26" name=""/>
          <p:cNvSpPr txBox="1"/>
          <p:nvPr/>
        </p:nvSpPr>
        <p:spPr>
          <a:xfrm>
            <a:off x="12904468" y="7696200"/>
            <a:ext cx="11073766" cy="145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0.25 (저신뢰도): 그림자나 노이즈까지 차량으로 오탐지(FP)하여 밀집도(Density) 수치를 비정상적으로 뻥튀기시키는 부작용 발생</a:t>
            </a:r>
            <a:endParaRPr lang="ko-KR" altLang="en-US" sz="3000"/>
          </a:p>
        </p:txBody>
      </p:sp>
      <p:sp>
        <p:nvSpPr>
          <p:cNvPr id="27" name=""/>
          <p:cNvSpPr txBox="1"/>
          <p:nvPr/>
        </p:nvSpPr>
        <p:spPr>
          <a:xfrm>
            <a:off x="12853034" y="9296400"/>
            <a:ext cx="11073766" cy="99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0.75 (고신뢰도): 화면 멀리 있거나 서로 겹쳐있는 실제 차량들을 놓치는 미탐지(FN) 발생</a:t>
            </a:r>
            <a:endParaRPr lang="ko-KR" altLang="en-US" sz="3000"/>
          </a:p>
        </p:txBody>
      </p:sp>
      <p:sp>
        <p:nvSpPr>
          <p:cNvPr id="28" name=""/>
          <p:cNvSpPr txBox="1"/>
          <p:nvPr/>
        </p:nvSpPr>
        <p:spPr>
          <a:xfrm>
            <a:off x="12853034" y="10355580"/>
            <a:ext cx="11073766" cy="146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 최종 세팅 (0.50): 과탐지와 미탐지 사이의 균형이 가장 안정적인 0.50을 최종 객체 탐지 임계값으로 픽스(Fix)하여 원천 데이터의 신뢰도 완벽 확보</a:t>
            </a:r>
            <a:endParaRPr lang="ko-KR" altLang="en-US" sz="3000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7961" y="2057399"/>
            <a:ext cx="23388078" cy="449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AI 모델 설계 (3) - 이상 데이터 분포 탐색 (3D PCA)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10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62000" y="2651760"/>
            <a:ext cx="11073766" cy="19183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● 시각화 기법 도입: 4차원(Car, Bus, Truck, Density)으로 구성된 트래픽 피처(Feature) 데이터의 구조를 한눈에 파악하기 위해 3차원 PCA(주성분 분석) 시각화 수행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762000" y="4330065"/>
            <a:ext cx="11073766" cy="1003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분포도 시각화 결과: 파란색 점(정상 데이터)과 빨간색 점(이상 데이터)을 3D 공간상에 투영시켜 군집 형태 확인</a:t>
            </a:r>
            <a:endParaRPr lang="ko-KR" altLang="en-US" sz="3000"/>
          </a:p>
        </p:txBody>
      </p:sp>
      <p:sp>
        <p:nvSpPr>
          <p:cNvPr id="33" name=""/>
          <p:cNvSpPr txBox="1"/>
          <p:nvPr/>
        </p:nvSpPr>
        <p:spPr>
          <a:xfrm>
            <a:off x="762000" y="5854065"/>
            <a:ext cx="11073766" cy="54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분석 인사이트 및 모델링 방향성 확립</a:t>
            </a:r>
            <a:endParaRPr lang="ko-KR" altLang="en-US" sz="3000"/>
          </a:p>
        </p:txBody>
      </p:sp>
      <p:sp>
        <p:nvSpPr>
          <p:cNvPr id="34" name=""/>
          <p:cNvSpPr txBox="1"/>
          <p:nvPr/>
        </p:nvSpPr>
        <p:spPr>
          <a:xfrm>
            <a:off x="813432" y="10431780"/>
            <a:ext cx="11073768" cy="99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결론: 고차원 패턴을 파악할 수 있는 고도화된 머신러닝/딥러닝 모델의 필요성 강력 대두</a:t>
            </a:r>
            <a:endParaRPr lang="ko-KR" altLang="en-US" sz="3000"/>
          </a:p>
        </p:txBody>
      </p:sp>
      <p:sp>
        <p:nvSpPr>
          <p:cNvPr id="35" name=""/>
          <p:cNvSpPr txBox="1"/>
          <p:nvPr/>
        </p:nvSpPr>
        <p:spPr>
          <a:xfrm>
            <a:off x="813434" y="8610600"/>
            <a:ext cx="11073766" cy="145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알고리즘 방향성 도출: 데이터가 이토록 얽혀 있으므로, 단순한 1차원적 임계값 컷오프(Cut-off)나 거리 기반 알고리즘으로는 탐지율에 한계가 뚜렷할 것임을 선제적으로 증명</a:t>
            </a:r>
            <a:endParaRPr lang="ko-KR" altLang="en-US" sz="3000"/>
          </a:p>
        </p:txBody>
      </p:sp>
      <p:sp>
        <p:nvSpPr>
          <p:cNvPr id="36" name=""/>
          <p:cNvSpPr txBox="1"/>
          <p:nvPr/>
        </p:nvSpPr>
        <p:spPr>
          <a:xfrm>
            <a:off x="737234" y="6858000"/>
            <a:ext cx="11073766" cy="145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비선형적 혼재 현상: 정상 상황과 비정상 상황의 경계선이 칼로 자르듯 명확하지 않고, 공간상에 매우 복잡하고 비선형적으로 얽혀 있음을 눈으로 확인</a:t>
            </a:r>
            <a:endParaRPr lang="ko-KR" altLang="en-US" sz="3000"/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411200" y="2286000"/>
            <a:ext cx="9296400" cy="9588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AI 모델 설계 (4) - 베이스라인 모델 테스트 (K-Means)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11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62000" y="2958465"/>
            <a:ext cx="11073766" cy="1461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● 도입 배경: 앞선 PCA에서 확인한 복잡한 데이터 분포를, 가장 직관적이고 기본적인 '거리 기반' 군집화 알고리즘이 얼마나 잘 분류해 내는지 기준점(Baseline)을 잡기 위해 선행 도입</a:t>
            </a: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762000" y="4636770"/>
            <a:ext cx="11073766" cy="1459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탐지 원리: 학습된 정상 군집의 중심(Centroid)으로부터 들어온 데이터가 얼마나 멀리 떨어져 있는지를 계산하여, 거리가 멀면 이상(Anomaly)으로 판단</a:t>
            </a:r>
            <a:endParaRPr lang="ko-KR" altLang="en-US" sz="3000"/>
          </a:p>
        </p:txBody>
      </p:sp>
      <p:sp>
        <p:nvSpPr>
          <p:cNvPr id="33" name=""/>
          <p:cNvSpPr txBox="1"/>
          <p:nvPr/>
        </p:nvSpPr>
        <p:spPr>
          <a:xfrm>
            <a:off x="12091033" y="7467600"/>
            <a:ext cx="11073766" cy="54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모델의 치명적 한계점 (한계 분석)</a:t>
            </a:r>
            <a:endParaRPr lang="ko-KR" altLang="en-US" sz="3000"/>
          </a:p>
        </p:txBody>
      </p:sp>
      <p:sp>
        <p:nvSpPr>
          <p:cNvPr id="35" name=""/>
          <p:cNvSpPr txBox="1"/>
          <p:nvPr/>
        </p:nvSpPr>
        <p:spPr>
          <a:xfrm>
            <a:off x="12192000" y="8374380"/>
            <a:ext cx="11073768" cy="283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한계 원인: K-Means는 현재 들어온 1프레임의 '단순 수치'와 '거리'만 비교할 뿐, 이전 상황이 어땠는지(과거의 흐름)를 전혀 기억하지 못함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● 실패 결론: 트럭이 잠깐 지나가거나 화면이 살짝 떨리는 단순 노이즈에도 거리가 멀어졌다고 알람을 울려버리는 잦은 오탐지(False Positive) 문제 발생 확인</a:t>
            </a:r>
            <a:endParaRPr lang="ko-KR" altLang="en-US" sz="3000"/>
          </a:p>
        </p:txBody>
      </p:sp>
      <p:sp>
        <p:nvSpPr>
          <p:cNvPr id="36" name=""/>
          <p:cNvSpPr txBox="1"/>
          <p:nvPr/>
        </p:nvSpPr>
        <p:spPr>
          <a:xfrm>
            <a:off x="712468" y="8221980"/>
            <a:ext cx="11073766" cy="328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고정값의 한계 돌파: 임의로 알람 기준을 정하지 않고, 상위 1%부터 40% 구간까지 임계값을 촘촘하게 변경해 가며 성능(F1-Score) 변화율 추적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최적점 도출: 가장 높은 F1-Score를 달성하는 최적의 임계값(Threshold)을 자동으로 찾아내는 시뮬레이션 파이프라인 구현 성공</a:t>
            </a:r>
            <a:endParaRPr lang="ko-KR" altLang="en-US" sz="3000"/>
          </a:p>
        </p:txBody>
      </p:sp>
      <p:sp>
        <p:nvSpPr>
          <p:cNvPr id="38" name=""/>
          <p:cNvSpPr txBox="1"/>
          <p:nvPr/>
        </p:nvSpPr>
        <p:spPr>
          <a:xfrm>
            <a:off x="762000" y="7524750"/>
            <a:ext cx="11073766" cy="54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동적 임계값(Threshold) 시뮬레이션</a:t>
            </a:r>
            <a:endParaRPr lang="ko-KR" altLang="en-US" sz="3000"/>
          </a:p>
        </p:txBody>
      </p:sp>
      <p:pic>
        <p:nvPicPr>
          <p:cNvPr id="3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92000" y="2971800"/>
            <a:ext cx="9448800" cy="3919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AI 모델 설계 (5) - 중간 고도화 (MLP Autoencoder)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12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62000" y="2958465"/>
            <a:ext cx="11073766" cy="10020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● 모델 변경: K-Means의 비선형적 한계를 극복하기 위해 다층 퍼셉트론(MLP) 기반의 딥러닝 신경망 모델 도입</a:t>
            </a: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762000" y="4267200"/>
            <a:ext cx="11073766" cy="1914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핵심 원리 (재구성 오차): 오직 '정상' 교통 흐름 데이터만으로 신경망을 학습시킴. 이후 새로운 영상이 들어왔을 때 모델이 이를 제대로 복원(Reconstruct)하지 못하고 오차(MSE)가 크게 튀면 이상(Anomaly)으로 간주하는 핵심 로직 확립</a:t>
            </a:r>
            <a:endParaRPr lang="ko-KR" altLang="en-US" sz="3000"/>
          </a:p>
        </p:txBody>
      </p:sp>
      <p:sp>
        <p:nvSpPr>
          <p:cNvPr id="36" name=""/>
          <p:cNvSpPr txBox="1"/>
          <p:nvPr/>
        </p:nvSpPr>
        <p:spPr>
          <a:xfrm>
            <a:off x="838200" y="7467600"/>
            <a:ext cx="11073766" cy="3291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차원의 한계 (2차원 Tensor): MLP 신경망은 비선형 구조 파악에는 뛰어났으나, 여전히 개별 프레임 단위(samples, features)의 데이터만 '독립적'으로 처리하는 근본적 한계 존재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맥락(Context)의 부재: 바로 1초 전 도로 상황이 어땠는지를 기억하지 못해, 카메라 앞을 큰 버스가 훅 지나가는 정상적인 상황에도 오차가 급증하여 알람을 울리는 약점 노출</a:t>
            </a:r>
            <a:endParaRPr lang="ko-KR" altLang="en-US" sz="3000"/>
          </a:p>
        </p:txBody>
      </p:sp>
      <p:sp>
        <p:nvSpPr>
          <p:cNvPr id="38" name=""/>
          <p:cNvSpPr txBox="1"/>
          <p:nvPr/>
        </p:nvSpPr>
        <p:spPr>
          <a:xfrm>
            <a:off x="813434" y="6477000"/>
            <a:ext cx="11073766" cy="145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2차 한계점 발현 (여전히 남은 숙제)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endParaRPr lang="ko-KR" altLang="en-US" sz="3000"/>
          </a:p>
        </p:txBody>
      </p:sp>
      <p:pic>
        <p:nvPicPr>
          <p:cNvPr id="4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06200" y="3238500"/>
            <a:ext cx="12520152" cy="697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AI 모델 설계 (6) - 최종 </a:t>
            </a:r>
            <a:r>
              <a:rPr lang="ko-KR" alt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선정 (LSTM Autoencoder)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13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62000" y="2958465"/>
            <a:ext cx="11073766" cy="14592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● 시계열 처리: 앞선 모델들의 '단기 기억 상실' 문제를 완벽히 해결하기 위해, 3차원 시퀀스 텐서 (samples, time_steps, features)를 처리하는 LSTM 레이어 전격 설계</a:t>
            </a:r>
            <a:endParaRPr lang="ko-KR" altLang="en-US" sz="3000"/>
          </a:p>
        </p:txBody>
      </p:sp>
      <p:sp>
        <p:nvSpPr>
          <p:cNvPr id="23" name=""/>
          <p:cNvSpPr txBox="1"/>
          <p:nvPr/>
        </p:nvSpPr>
        <p:spPr>
          <a:xfrm>
            <a:off x="762000" y="4640580"/>
            <a:ext cx="11073766" cy="145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탐지 메커니즘: 직전 교통 흐름을 뇌에 기억한 상태에서 현재 프레임을 판단하므로, 카메라 앞을 큰 버스가 가리는 순간적인 현상도 비정상이 아닌 '정상적인 흐름'으로 똑똑하게 인지함</a:t>
            </a:r>
            <a:endParaRPr lang="ko-KR" altLang="en-US" sz="3000"/>
          </a:p>
        </p:txBody>
      </p:sp>
      <p:sp>
        <p:nvSpPr>
          <p:cNvPr id="36" name=""/>
          <p:cNvSpPr txBox="1"/>
          <p:nvPr/>
        </p:nvSpPr>
        <p:spPr>
          <a:xfrm>
            <a:off x="838200" y="6858000"/>
            <a:ext cx="11073766" cy="5113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● 은닉층(Hidden State) 튜닝: 모델의 뇌 크기에 해당하는 뉴런 개수를 8, 16, 32개로 끈질기게 조작하며 하이퍼파라미터 비교 실험 수행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과적합(Overfitting) 억제: 32개 뉴런 적용 시, 학습 데이터에 너무 과하게 맞춰져 실제 환경에서 오히려 분산이 커지는 치명적 현상 발견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최종 결론: 가장 밸런스가 뛰어나고 이상 징후를 날카롭게 잡아내는 **'16-Neuron LSTM Autoencoder'**를 최종 메인 엔진으로 탑재 완료</a:t>
            </a:r>
            <a:endParaRPr lang="ko-KR" altLang="en-US" sz="3000"/>
          </a:p>
        </p:txBody>
      </p:sp>
      <p:sp>
        <p:nvSpPr>
          <p:cNvPr id="38" name=""/>
          <p:cNvSpPr txBox="1"/>
          <p:nvPr/>
        </p:nvSpPr>
        <p:spPr>
          <a:xfrm>
            <a:off x="813433" y="6248400"/>
            <a:ext cx="11073766" cy="541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하이퍼파라미터 튜닝 및 챔피언 등극</a:t>
            </a:r>
            <a:endParaRPr lang="ko-KR" altLang="en-US" sz="3000"/>
          </a:p>
        </p:txBody>
      </p:sp>
      <p:pic>
        <p:nvPicPr>
          <p:cNvPr id="41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039600" y="3219450"/>
            <a:ext cx="11861395" cy="8362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성능 분석 (1) - Confusion Matrix 및 지표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14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1042032" y="7848600"/>
            <a:ext cx="11073767" cy="42005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 ■ 관제 시스템 특화 평가지표 (Metrics)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재현율(Recall) 최우선 지표: 실제 발생한 사고를 단 하나라도 놓치면(미탐) 대형 참사로 이어지므로, 재현율을 최우선 지표로 삼아 모델을 평가함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F1-Score 밸런싱: 재현율을 극한으로 높이느라 알람이 너무 빈번하게 울리는(오탐) 것을 막기 위해, 정밀도(Precision)와의 조화 평균인 F1-Score를 지속 모니터링함</a:t>
            </a:r>
            <a:endParaRPr lang="ko-KR" altLang="en-US" sz="3000"/>
          </a:p>
        </p:txBody>
      </p:sp>
      <p:sp>
        <p:nvSpPr>
          <p:cNvPr id="42" name=""/>
          <p:cNvSpPr txBox="1"/>
          <p:nvPr/>
        </p:nvSpPr>
        <p:spPr>
          <a:xfrm>
            <a:off x="12472034" y="8001000"/>
            <a:ext cx="11073766" cy="3741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Confusion Matrix (혼동 행렬) 분석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우수한 탐지력: 실제 위험 상황(TP)과 원활한 흐름(TN)을 명확하게 분리하고 식별해 냄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한계점 발견 (다음 장 빌드업): 재현율을 높이다 보니, 야간 빛 반사나 대형 트럭의 순간 가림 현상을 '정체'로 오인하는 가짜 알람(False Positive, FP)이 일부 발생하는 현상 관찰됨</a:t>
            </a:r>
            <a:endParaRPr lang="ko-KR" altLang="en-US" sz="3000"/>
          </a:p>
        </p:txBody>
      </p:sp>
      <p:pic>
        <p:nvPicPr>
          <p:cNvPr id="4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209295" y="2190750"/>
            <a:ext cx="19050506" cy="527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성능 분석 (2) - ROC Curve 및 식별력(AUC)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15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737232" y="2362200"/>
            <a:ext cx="11073767" cy="236982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ROC Curve (수신자 조작 특성 곡선)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평가 방법론: 모델이 비정상(Anomaly)을 얼마나 잘 솎아내는지 알아보기 위해, 오탐지율(FPR) 대비 정탐지율(TPR)의 비율을 곡선으로 도식화하여 검증</a:t>
            </a:r>
            <a:endParaRPr lang="ko-KR" altLang="en-US" sz="3000"/>
          </a:p>
        </p:txBody>
      </p:sp>
      <p:sp>
        <p:nvSpPr>
          <p:cNvPr id="42" name=""/>
          <p:cNvSpPr txBox="1"/>
          <p:nvPr/>
        </p:nvSpPr>
        <p:spPr>
          <a:xfrm>
            <a:off x="762000" y="5402580"/>
            <a:ext cx="11073767" cy="419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AUC (Area Under Curve) 결과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압도적 분류 성능 증명: 모델 성능이 1점 만점에 가까울수록 그래프가 좌측 상단으로 가파르게 치솟음.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결과치 해석: 대각선 점선(단순 찍기, Random 확률)을 아득히 뛰어넘어 좌상단에 찰칵 붙어있는 궤적을 보여주며, 우리 챔피언 모델이 가진 딥러닝 본연의 압도적인 식별력을 수치적으로 완벽하게 입증함</a:t>
            </a:r>
            <a:endParaRPr lang="ko-KR" altLang="en-US" sz="3000"/>
          </a:p>
        </p:txBody>
      </p:sp>
      <p:pic>
        <p:nvPicPr>
          <p:cNvPr id="4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63600" y="2471268"/>
            <a:ext cx="9067800" cy="6596532"/>
          </a:xfrm>
          <a:prstGeom prst="rect">
            <a:avLst/>
          </a:prstGeom>
        </p:spPr>
      </p:pic>
      <p:pic>
        <p:nvPicPr>
          <p:cNvPr id="4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411200" y="9144000"/>
            <a:ext cx="9677400" cy="2866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48600" y="2667000"/>
            <a:ext cx="16257271" cy="9067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최종 결과물 - 실시간 시계열 이상 탐지 대시보드</a:t>
            </a:r>
            <a:endParaRPr lang="en-US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16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7492368" cy="32842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</a:t>
            </a:r>
            <a:r>
              <a:rPr lang="en-US" altLang="ko-KR" sz="3000"/>
              <a:t>Streamlit </a:t>
            </a:r>
            <a:r>
              <a:rPr lang="ko-KR" altLang="en-US" sz="3000"/>
              <a:t>시연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클라우드 실시간 시각화: Supabase DB에 초 단위로 적재되는 교통 밀집도 데이터를, 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LSTM 챔피언 모델이 실시간으로 추론(Inference)하여 웹 대시보드(Streamlit) 화면에 표출</a:t>
            </a:r>
            <a:endParaRPr lang="ko-KR" altLang="en-US" sz="3000"/>
          </a:p>
        </p:txBody>
      </p:sp>
      <p:sp>
        <p:nvSpPr>
          <p:cNvPr id="50" name=""/>
          <p:cNvSpPr txBox="1"/>
          <p:nvPr/>
        </p:nvSpPr>
        <p:spPr>
          <a:xfrm>
            <a:off x="457200" y="8147684"/>
            <a:ext cx="7492368" cy="374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직관적인 이상 행동 알람 (Red Zone)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 동적 임계값 적용: 단순히 밀집도가 높다고 울리는 것이 아닌, 모델의 재구성 오차(Reconstruction Error)가 임계값을 초과할 경우 해당 지점을 즉각 **비정상(빨간 점)**으로 띄워 관제사에게 경고 알람 발생</a:t>
            </a:r>
            <a:endParaRPr lang="ko-KR" altLang="en-US" sz="3000"/>
          </a:p>
        </p:txBody>
      </p:sp>
      <p:sp>
        <p:nvSpPr>
          <p:cNvPr id="52" name=""/>
          <p:cNvSpPr/>
          <p:nvPr/>
        </p:nvSpPr>
        <p:spPr>
          <a:xfrm>
            <a:off x="7848600" y="10668000"/>
            <a:ext cx="8839200" cy="9906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실패 사례 분석 (1)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17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049780"/>
            <a:ext cx="9677400" cy="42062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False Positive  (오탐지 - 정상을 사고로 착각함)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야간 헤드라이트 빛 번짐: 야간 시간대 차량의 강한 헤드라이트 빛 반사를 YOLO가 유령 차량(Ghost)으로 겹쳐서 오인식하여, 순간적으로 밀집도(Density)가 폭증해 알람이 울리는 현상</a:t>
            </a:r>
            <a:endParaRPr lang="ko-KR" altLang="en-US" sz="3000"/>
          </a:p>
          <a:p>
            <a:pPr>
              <a:defRPr/>
            </a:pPr>
            <a:r>
              <a:rPr lang="ko-KR" altLang="en-US" sz="3000"/>
              <a:t>● 대형 객체의 시야 가림: 카메라 렌즈 바로 앞을 대형 화물 트럭이 훅 지나갈 때, 도로 전체가 가려지면서 LSTM이 이를 비정상적인 흐름 패턴으로 착각하는 현상</a:t>
            </a:r>
            <a:endParaRPr lang="ko-KR" altLang="en-US" sz="3000"/>
          </a:p>
        </p:txBody>
      </p:sp>
      <p:pic>
        <p:nvPicPr>
          <p:cNvPr id="5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77852" y="2971800"/>
            <a:ext cx="8367347" cy="4307941"/>
          </a:xfrm>
          <a:prstGeom prst="rect">
            <a:avLst/>
          </a:prstGeom>
        </p:spPr>
      </p:pic>
      <p:sp>
        <p:nvSpPr>
          <p:cNvPr id="57" name=""/>
          <p:cNvSpPr txBox="1"/>
          <p:nvPr/>
        </p:nvSpPr>
        <p:spPr>
          <a:xfrm>
            <a:off x="10439400" y="2270760"/>
            <a:ext cx="9677400" cy="100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예시 사진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</p:txBody>
      </p:sp>
      <p:pic>
        <p:nvPicPr>
          <p:cNvPr id="5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363200" y="7467599"/>
            <a:ext cx="8458200" cy="4473365"/>
          </a:xfrm>
          <a:prstGeom prst="rect">
            <a:avLst/>
          </a:prstGeom>
        </p:spPr>
      </p:pic>
      <p:sp>
        <p:nvSpPr>
          <p:cNvPr id="59" name=""/>
          <p:cNvSpPr/>
          <p:nvPr/>
        </p:nvSpPr>
        <p:spPr>
          <a:xfrm>
            <a:off x="11430000" y="10744200"/>
            <a:ext cx="7239000" cy="8382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0" name=""/>
          <p:cNvSpPr/>
          <p:nvPr/>
        </p:nvSpPr>
        <p:spPr>
          <a:xfrm>
            <a:off x="16002000" y="7391400"/>
            <a:ext cx="2133600" cy="31242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1" name=""/>
          <p:cNvSpPr/>
          <p:nvPr/>
        </p:nvSpPr>
        <p:spPr>
          <a:xfrm>
            <a:off x="13182600" y="4495800"/>
            <a:ext cx="2362200" cy="2209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실패 사례 분석 (2)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18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9677400" cy="5113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False Negative (미탐지 - 실제 사고를 놓침)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원거리 픽셀 뭉개짐: CCTV 화각의 한계상 너무 멀리서 발생한 접촉 사고의 경우, 객체가 픽셀 단위로 뭉개져 앞서 설정한 탐지 임계값(Confidence 0.5)을 넘지 못해 모델이 아예 인식조차 못 하는 현상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초장기 점진적 정체: 명절 귀성길처럼 수십 분에 걸쳐 아주 서~서히 차가 막히는 경우, LSTM 모델이 이 느린 변화를 '새로운 정상 흐름'으로 적응해 버려서 경고를 놓치는 현상</a:t>
            </a:r>
            <a:endParaRPr lang="ko-KR" altLang="en-US" sz="3000"/>
          </a:p>
        </p:txBody>
      </p:sp>
      <p:sp>
        <p:nvSpPr>
          <p:cNvPr id="57" name=""/>
          <p:cNvSpPr txBox="1"/>
          <p:nvPr/>
        </p:nvSpPr>
        <p:spPr>
          <a:xfrm>
            <a:off x="10439400" y="2270760"/>
            <a:ext cx="9677400" cy="100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예시 사진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</p:txBody>
      </p:sp>
      <p:pic>
        <p:nvPicPr>
          <p:cNvPr id="5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82250" y="3248024"/>
            <a:ext cx="13698952" cy="7572375"/>
          </a:xfrm>
          <a:prstGeom prst="rect">
            <a:avLst/>
          </a:prstGeom>
        </p:spPr>
      </p:pic>
      <p:sp>
        <p:nvSpPr>
          <p:cNvPr id="59" name=""/>
          <p:cNvSpPr/>
          <p:nvPr/>
        </p:nvSpPr>
        <p:spPr>
          <a:xfrm>
            <a:off x="16992600" y="4114800"/>
            <a:ext cx="3352800" cy="1828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Trouble Shooting (1) 데이터 파이프라인 병목 극복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19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9677400" cy="5113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 ■ 문제 발생: 대규모 데이터 적재 시 메모리 뻗음(Crash) 현상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증상: 4.8GB 분량의 CCTV 분석 결과를 로컬 엑셀(CSV) 파일에 담아 딥러닝 모델에 밀어 넣으려 했으나, 로컬 PC의 메모리 과부하(OOM)로 인해 시스템 셧다운(Crash) 현상 지속 발생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원인 분석: 실시간으로 끊임없이 무한대로 누적되는 고속도로 트래픽 로그를, 고정된 파일(CSV)로 감당하려는 아키텍처 자체의 구조적 결함 확인</a:t>
            </a:r>
            <a:endParaRPr lang="ko-KR" altLang="en-US" sz="3000"/>
          </a:p>
        </p:txBody>
      </p:sp>
      <p:sp>
        <p:nvSpPr>
          <p:cNvPr id="60" name=""/>
          <p:cNvSpPr txBox="1"/>
          <p:nvPr/>
        </p:nvSpPr>
        <p:spPr>
          <a:xfrm>
            <a:off x="381000" y="7696200"/>
            <a:ext cx="9677400" cy="419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해결 완료 (Solution): 실시간 MLOps 아키텍처 전면 개조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구조 개편: 구시대적인 로컬 파일 시스템을 과감하게 폐기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클라우드 도입: YOLO가 분석한 로그를 즉시 Supabase 실시간 클라우드 DB에 쏘아 올리고, 분석 모델(LSTM)은 클라우드에서 최신 데이터를 실시간으로 당겨오는 라이브 파이프라인으로 뜯어고쳐 병목 현상 완벽 해결</a:t>
            </a:r>
            <a:endParaRPr lang="ko-KR" altLang="en-US" sz="3000"/>
          </a:p>
        </p:txBody>
      </p:sp>
      <p:pic>
        <p:nvPicPr>
          <p:cNvPr id="6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287000" y="3019424"/>
            <a:ext cx="13643111" cy="8105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Trouble Shooting (2) 실시간 AI 추론 속도 딜레이 극복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20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9677400" cy="5113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문제 발생: 실시간 환경에서의 추론 딜레이(Lag) 및 끊김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증상: 객체 탐지 정확도가 뛰어난 YOLOv8 Medium 모델을 실제 관제 카메라(30fps)에 연결하자, 영상이 심각하게 버벅대며 뚝뚝 끊기는 프레임 드랍 발생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원인 분석: 고화질 영상을 실시간으로 연산하기에는 Medium 모델의 딥러닝 파라미터가 너무 무거워, 1프레임을 분석하는 데 걸리는 딜레이(Inference Time)가 한계치를 초과함</a:t>
            </a:r>
            <a:endParaRPr lang="ko-KR" altLang="en-US" sz="3000"/>
          </a:p>
        </p:txBody>
      </p:sp>
      <p:sp>
        <p:nvSpPr>
          <p:cNvPr id="60" name=""/>
          <p:cNvSpPr txBox="1"/>
          <p:nvPr/>
        </p:nvSpPr>
        <p:spPr>
          <a:xfrm>
            <a:off x="381000" y="7391400"/>
            <a:ext cx="9677400" cy="4655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해결 완료 (Solution): 최적의 리소스 분배 전략 확립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도메인 지식 활용: 고속도로 환경상 차량(객체)이 크고 뚜렷하게 보인다는 점을 이용, 가장 가벼운 YOLOv8 Nano 모델로 스위칭하여 속도(FPS)를 10배 이상 끌어올리면서도 정확도 하락은 완벽히 방어함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선택과 집중: YOLO 연산에서 극단적으로 아낀 컴퓨팅 자원을, 전체 시스템의 메인 브레인인 '16-Neuron LSTM'에 전부 몰아주어 실시간 관제 최적화 달성</a:t>
            </a:r>
            <a:endParaRPr lang="ko-KR" altLang="en-US" sz="3000"/>
          </a:p>
        </p:txBody>
      </p:sp>
      <p:pic>
        <p:nvPicPr>
          <p:cNvPr id="6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72204" y="2590800"/>
            <a:ext cx="11563996" cy="904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결론 및 </a:t>
            </a: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한계점 (Conclusion &amp; Future Works)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21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9677400" cy="2827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프로젝트 핵심 성과 요약 (Conclusion)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완성형 파이프라인 구축: 객체 탐지(YOLO) ➡️ 시계열 이상 탐지(LSTM) ➡️ 클라우드 데이터 적재(Supabase) ➡️ 실시간 웹 시각화(Streamlit)로 이어지는 '지능형 실시간 교통 관제 풀스택 시스템' 구축 성공</a:t>
            </a:r>
            <a:endParaRPr lang="ko-KR" altLang="en-US" sz="3000"/>
          </a:p>
        </p:txBody>
      </p:sp>
      <p:sp>
        <p:nvSpPr>
          <p:cNvPr id="60" name=""/>
          <p:cNvSpPr txBox="1"/>
          <p:nvPr/>
        </p:nvSpPr>
        <p:spPr>
          <a:xfrm>
            <a:off x="533400" y="5410200"/>
            <a:ext cx="9677400" cy="4655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딥러닝의 물리적 한계점 (Limitations)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광원 노이즈 취약성: 딥러닝 모델의 뛰어난 성능에도 불구하고, 야간 시간대 강한 헤드라이트 빛 번짐이나 젖은 노면의 반사광을 차량으로 오인식하여 발생하는 가짜 알람(False Positive) 일부 잔존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일시적 시야 가림 현상: 대형 화물 트럭이나 버스가 카메라 렌즈 바로 앞을 스쳐 지나갈 때, 도로가 사라진 것으로 오인하는 픽셀 왜곡 한계 확인</a:t>
            </a:r>
            <a:endParaRPr lang="ko-KR" altLang="en-US" sz="3000"/>
          </a:p>
        </p:txBody>
      </p:sp>
      <p:pic>
        <p:nvPicPr>
          <p:cNvPr id="6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0" y="3048000"/>
            <a:ext cx="7629525" cy="8373447"/>
          </a:xfrm>
          <a:prstGeom prst="rect">
            <a:avLst/>
          </a:prstGeom>
        </p:spPr>
      </p:pic>
      <p:sp>
        <p:nvSpPr>
          <p:cNvPr id="66" name=""/>
          <p:cNvSpPr txBox="1"/>
          <p:nvPr/>
        </p:nvSpPr>
        <p:spPr>
          <a:xfrm>
            <a:off x="11887200" y="2346960"/>
            <a:ext cx="96774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/>
              <a:t>■ 예시 사진</a:t>
            </a:r>
            <a:endParaRPr lang="ko-KR" altLang="en-US"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32000"/>
            <a:ext cx="246253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4900" y="4953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533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향후 발전 방향 (Future Works)</a:t>
            </a:r>
            <a:endParaRPr lang="en-US" altLang="ko-KR" sz="6533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22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533400" y="2209800"/>
            <a:ext cx="9677400" cy="6941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/>
              <a:t>■ 상용화를 위한 시스템 고도화 로드맵 (Roadmap)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Hybrid Rule (이중 방어 체계) 도입: AI의 맹목적인 판단에 의존하지 않고, "야간 시간에는 알람 임계값을 20% 올린다" 등 인간의 도메인 지식(규칙)을 딥러닝과 결합하여 한계점 완벽 극복 예정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EMA 필터 (노이즈 스무딩) 적용: 카메라 떨림 등 순간적인 시야 가림으로 튀는 값을 막기 위해, 과거 데이터 평균을 반영하여 수치를 부드럽게 깎는 지수이동평균(EMA) 통계 기법 융합</a:t>
            </a:r>
            <a:endParaRPr lang="ko-KR" altLang="en-US" sz="3000"/>
          </a:p>
          <a:p>
            <a:pPr>
              <a:defRPr/>
            </a:pPr>
            <a:endParaRPr lang="ko-KR" altLang="en-US" sz="3000"/>
          </a:p>
          <a:p>
            <a:pPr>
              <a:defRPr/>
            </a:pPr>
            <a:r>
              <a:rPr lang="ko-KR" altLang="en-US" sz="3000"/>
              <a:t>● 엣지(Edge) 디바이스 배포 추진: 챔피언 모델을 추가 경량화하여, 무거운 중앙 서버 없이 고속도로 현장 CCTV 기기 자체에 탑재하는 진정한 의미의 상용화 최적화 검토</a:t>
            </a:r>
            <a:endParaRPr lang="ko-KR" altLang="en-US" sz="3000"/>
          </a:p>
        </p:txBody>
      </p:sp>
      <p:pic>
        <p:nvPicPr>
          <p:cNvPr id="6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50624" y="2401824"/>
            <a:ext cx="9256776" cy="92567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660399" y="5016500"/>
            <a:ext cx="22428200" cy="1155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5000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  <a:r>
              <a:rPr lang="en-US" altLang="ko-KR" sz="15000" b="0" i="0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lang="en-US" altLang="ko-KR" sz="15000" b="0" i="0" u="none" strike="noStrike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6" name=""/>
          <p:cNvGrpSpPr/>
          <p:nvPr/>
        </p:nvGrpSpPr>
        <p:grpSpPr>
          <a:xfrm rot="0">
            <a:off x="0" y="12217400"/>
            <a:ext cx="24384000" cy="1651000"/>
            <a:chOff x="0" y="12217400"/>
            <a:chExt cx="24384000" cy="1651000"/>
          </a:xfrm>
        </p:grpSpPr>
        <p:pic>
          <p:nvPicPr>
            <p:cNvPr id="17" name="Picture 1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0" y="12217400"/>
              <a:ext cx="24384000" cy="1651000"/>
            </a:xfrm>
            <a:prstGeom prst="rect">
              <a:avLst/>
            </a:prstGeom>
          </p:spPr>
        </p:pic>
        <p:sp>
          <p:nvSpPr>
            <p:cNvPr id="18" name=""/>
            <p:cNvSpPr txBox="1"/>
            <p:nvPr/>
          </p:nvSpPr>
          <p:spPr>
            <a:xfrm>
              <a:off x="23545800" y="12801600"/>
              <a:ext cx="539115" cy="46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2500">
                  <a:solidFill>
                    <a:schemeClr val="lt1"/>
                  </a:solidFill>
                </a:rPr>
                <a:t>23</a:t>
              </a:r>
              <a:endParaRPr lang="en-US" altLang="ko-KR" sz="25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2075</ep:Words>
  <ep:PresentationFormat>On-screen Show (4:3)</ep:PresentationFormat>
  <ep:Paragraphs>193</ep:Paragraphs>
  <ep:Slides>23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ep:HeadingPairs>
  <ep:TitlesOfParts>
    <vt:vector size="2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human-02</cp:lastModifiedBy>
  <dcterms:modified xsi:type="dcterms:W3CDTF">2026-07-01T02:49:00.623</dcterms:modified>
  <cp:revision>63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