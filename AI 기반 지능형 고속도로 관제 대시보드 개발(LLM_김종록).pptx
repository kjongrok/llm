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24384000" cy="13716000"/>
  <p:notesSz cx="6858000" cy="9144000"/>
  <p:embeddedFontLst>
    <p:embeddedFont>
      <p:font typeface="NanumGothic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5.png" Type="http://schemas.openxmlformats.org/officeDocument/2006/relationships/image"/><Relationship Id="rId20" Target="../media/image23.png" Type="http://schemas.openxmlformats.org/officeDocument/2006/relationships/image"/><Relationship Id="rId21" Target="../media/image24.png" Type="http://schemas.openxmlformats.org/officeDocument/2006/relationships/image"/><Relationship Id="rId22" Target="../media/image25.png" Type="http://schemas.openxmlformats.org/officeDocument/2006/relationships/image"/><Relationship Id="rId23" Target="../media/image26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4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5.png" Type="http://schemas.openxmlformats.org/officeDocument/2006/relationships/image"/><Relationship Id="rId20" Target="../media/image53.png" Type="http://schemas.openxmlformats.org/officeDocument/2006/relationships/image"/><Relationship Id="rId21" Target="../media/image54.png" Type="http://schemas.openxmlformats.org/officeDocument/2006/relationships/image"/><Relationship Id="rId22" Target="../media/image55.png" Type="http://schemas.openxmlformats.org/officeDocument/2006/relationships/image"/><Relationship Id="rId23" Target="../media/image56.png" Type="http://schemas.openxmlformats.org/officeDocument/2006/relationships/image"/><Relationship Id="rId3" Target="../media/image30.png" Type="http://schemas.openxmlformats.org/officeDocument/2006/relationships/image"/><Relationship Id="rId4" Target="../media/image38.png" Type="http://schemas.openxmlformats.org/officeDocument/2006/relationships/image"/><Relationship Id="rId5" Target="../media/image4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30.png" Type="http://schemas.openxmlformats.org/officeDocument/2006/relationships/image"/><Relationship Id="rId4" Target="../media/image58.png" Type="http://schemas.openxmlformats.org/officeDocument/2006/relationships/image"/><Relationship Id="rId5" Target="../media/image4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64.png" Type="http://schemas.openxmlformats.org/officeDocument/2006/relationships/image"/><Relationship Id="rId5" Target="../media/image4.png" Type="http://schemas.openxmlformats.org/officeDocument/2006/relationships/image"/><Relationship Id="rId6" Target="../media/image6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72.png" Type="http://schemas.openxmlformats.org/officeDocument/2006/relationships/image"/><Relationship Id="rId5" Target="../media/image4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30.png" Type="http://schemas.openxmlformats.org/officeDocument/2006/relationships/image"/><Relationship Id="rId4" Target="../media/image72.png" Type="http://schemas.openxmlformats.org/officeDocument/2006/relationships/image"/><Relationship Id="rId5" Target="../media/image4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30.png" Type="http://schemas.openxmlformats.org/officeDocument/2006/relationships/image"/><Relationship Id="rId4" Target="../media/image80.png" Type="http://schemas.openxmlformats.org/officeDocument/2006/relationships/image"/><Relationship Id="rId5" Target="../media/image4.png" Type="http://schemas.openxmlformats.org/officeDocument/2006/relationships/image"/><Relationship Id="rId6" Target="../media/image77.png" Type="http://schemas.openxmlformats.org/officeDocument/2006/relationships/image"/><Relationship Id="rId7" Target="../media/image8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72.png" Type="http://schemas.openxmlformats.org/officeDocument/2006/relationships/image"/><Relationship Id="rId5" Target="../media/image4.png" Type="http://schemas.openxmlformats.org/officeDocument/2006/relationships/image"/><Relationship Id="rId6" Target="../media/image77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30.png" Type="http://schemas.openxmlformats.org/officeDocument/2006/relationships/image"/><Relationship Id="rId4" Target="../media/image72.png" Type="http://schemas.openxmlformats.org/officeDocument/2006/relationships/image"/><Relationship Id="rId5" Target="../media/image4.png" Type="http://schemas.openxmlformats.org/officeDocument/2006/relationships/image"/><Relationship Id="rId6" Target="../media/image77.png" Type="http://schemas.openxmlformats.org/officeDocument/2006/relationships/image"/><Relationship Id="rId7" Target="../media/image8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94.pn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2" Target="../media/image61.png" Type="http://schemas.openxmlformats.org/officeDocument/2006/relationships/image"/><Relationship Id="rId3" Target="../media/image30.png" Type="http://schemas.openxmlformats.org/officeDocument/2006/relationships/image"/><Relationship Id="rId4" Target="../media/image72.png" Type="http://schemas.openxmlformats.org/officeDocument/2006/relationships/image"/><Relationship Id="rId5" Target="../media/image4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72.png" Type="http://schemas.openxmlformats.org/officeDocument/2006/relationships/image"/><Relationship Id="rId5" Target="../media/image4.png" Type="http://schemas.openxmlformats.org/officeDocument/2006/relationships/image"/><Relationship Id="rId6" Target="../media/image9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70500" y="11430000"/>
            <a:ext cx="5600700" cy="1066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016500" y="952500"/>
            <a:ext cx="31521400" cy="2202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/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15000" y="11557000"/>
            <a:ext cx="47117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2026.07.07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65100" y="-228600"/>
            <a:ext cx="24726900" cy="9321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17600" y="12014200"/>
            <a:ext cx="12065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딥러닝 블랙박스 극복 및 LLM 기반 능동형 관제 시스템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17600" y="2628900"/>
            <a:ext cx="21932900" cy="5905500"/>
          </a:xfrm>
          <a:prstGeom prst="rect">
            <a:avLst/>
          </a:prstGeom>
        </p:spPr>
        <p:txBody>
          <a:bodyPr anchor="ctr" rtlCol="false" lIns="0" tIns="226907" rIns="0" bIns="226907"/>
          <a:lstStyle/>
          <a:p>
            <a:pPr algn="l" lvl="0">
              <a:lnSpc>
                <a:spcPct val="99600"/>
              </a:lnSpc>
            </a:pPr>
            <a:r>
              <a:rPr lang="en-US" sz="17866" b="false" i="false" u="none" strike="noStrike" spc="-200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AI 기반 지능형 고속도로 관제 대시보드 개발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45400" y="12026900"/>
            <a:ext cx="1003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김종록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2768600"/>
            <a:ext cx="24384000" cy="10947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76300" y="558800"/>
            <a:ext cx="22644100" cy="1638300"/>
          </a:xfrm>
          <a:prstGeom prst="rect">
            <a:avLst/>
          </a:prstGeom>
        </p:spPr>
        <p:txBody>
          <a:bodyPr anchor="ctr" rtlCol="false" lIns="0" tIns="58420" rIns="0" bIns="58420"/>
          <a:lstStyle/>
          <a:p>
            <a:pPr algn="ctr" lvl="0">
              <a:lnSpc>
                <a:spcPct val="107899"/>
              </a:lnSpc>
            </a:pPr>
            <a:r>
              <a:rPr lang="en-US" sz="9200" b="false" i="false" u="none" strike="noStrike" spc="-10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목차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0">
            <a:off x="444500" y="2768600"/>
            <a:ext cx="7277100" cy="4394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62000" y="29845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4533900"/>
            <a:ext cx="66294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4400" y="3403600"/>
            <a:ext cx="762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927100" y="3403600"/>
            <a:ext cx="762000" cy="762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28700" y="35306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7700" y="35560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프로젝트 개요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000" y="4762500"/>
            <a:ext cx="6731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 - 지능형 고속도로 이상탐지의 필요성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0">
            <a:off x="444500" y="5842000"/>
            <a:ext cx="7277100" cy="4394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62000" y="60579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620000"/>
            <a:ext cx="66294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4400" y="6477000"/>
            <a:ext cx="762000" cy="762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700000">
            <a:off x="927100" y="6477000"/>
            <a:ext cx="762000" cy="762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28700" y="66167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0400" y="66421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기존 딥러닝 접근 및 한계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2000" y="7848600"/>
            <a:ext cx="6731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기존 딥러닝 모델의 성능적 한계와 설명력 부실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 rot="0">
            <a:off x="444500" y="9004300"/>
            <a:ext cx="7277100" cy="43942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62000" y="3949700"/>
            <a:ext cx="6642100" cy="1449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10782300"/>
            <a:ext cx="6629400" cy="2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14400" y="9639300"/>
            <a:ext cx="762000" cy="762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927100" y="9639300"/>
            <a:ext cx="762000" cy="7620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028700" y="97663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30400" y="97917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확장 목표 및 시스템 구조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2000" y="11010900"/>
            <a:ext cx="67310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End-to-End 파이프라인 아키텍처 및 기술 스택
- 데이터 전처리 및 시계열 윈도우 설계 근거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 rot="0">
            <a:off x="8064500" y="2768600"/>
            <a:ext cx="7277100" cy="43942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8382000" y="29845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82000" y="4559300"/>
            <a:ext cx="6629400" cy="25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534400" y="3403600"/>
            <a:ext cx="762000" cy="762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8547100" y="3403600"/>
            <a:ext cx="762000" cy="7620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648700" y="35306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0400" y="35560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모델 구성 및 비교 기준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6">
            <a:alphaModFix amt="70000"/>
          </a:blip>
          <a:stretch>
            <a:fillRect/>
          </a:stretch>
        </p:blipFill>
        <p:spPr>
          <a:xfrm rot="0">
            <a:off x="8064500" y="5842000"/>
            <a:ext cx="7277100" cy="43942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8382000" y="60579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382000" y="4762500"/>
            <a:ext cx="70485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LSTM Autoencoder 이상탐지 구조 및 평가 지표
- t+1 시계열 예측 모델 벤치마크 및 최종 선정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82000" y="7620000"/>
            <a:ext cx="6629400" cy="25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534400" y="6477000"/>
            <a:ext cx="762000" cy="762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2700000">
            <a:off x="8547100" y="6477000"/>
            <a:ext cx="762000" cy="7620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648700" y="66167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50400" y="66421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결과 및 시각적 사례 분석 (XAI)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19">
            <a:alphaModFix amt="70000"/>
          </a:blip>
          <a:stretch>
            <a:fillRect/>
          </a:stretch>
        </p:blipFill>
        <p:spPr>
          <a:xfrm rot="0">
            <a:off x="8064500" y="9004300"/>
            <a:ext cx="7277100" cy="43942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8382000" y="92202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82000" y="7848600"/>
            <a:ext cx="67310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MSE 재구성 오차 분포 및 임계값(Threshold) 방어선
- SHAP 기반 정체 유발 핵심 변수(Feature) 규명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82000" y="10782300"/>
            <a:ext cx="6629400" cy="254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534400" y="9639300"/>
            <a:ext cx="762000" cy="7620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8547100" y="9639300"/>
            <a:ext cx="762000" cy="762000"/>
          </a:xfrm>
          <a:prstGeom prst="rect">
            <a:avLst/>
          </a:prstGeom>
        </p:spPr>
      </p:pic>
      <p:sp>
        <p:nvSpPr>
          <p:cNvPr name="TextBox 50" id="50"/>
          <p:cNvSpPr txBox="true"/>
          <p:nvPr/>
        </p:nvSpPr>
        <p:spPr>
          <a:xfrm rot="0">
            <a:off x="8648700" y="97663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50400" y="97917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LLM 기반 지능형 관제 에이전트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382000" y="11010900"/>
            <a:ext cx="6731000" cy="224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RAG 및 자율 도구 제어 기반 능동형 AI </a:t>
            </a:r>
          </a:p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에이전트
- RPA 기술 융합: 관제 보고서(.docx) 자동화
- 실시간 CCTV 비전 관제 및 자연어 조회 </a:t>
            </a:r>
          </a:p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(Live 시연)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1">
            <a:alphaModFix amt="70000"/>
          </a:blip>
          <a:stretch>
            <a:fillRect/>
          </a:stretch>
        </p:blipFill>
        <p:spPr>
          <a:xfrm rot="0">
            <a:off x="15976600" y="2743200"/>
            <a:ext cx="7277100" cy="43942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6294100" y="29591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94100" y="4521200"/>
            <a:ext cx="6629400" cy="25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446500" y="3378200"/>
            <a:ext cx="762000" cy="762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2700000">
            <a:off x="16459200" y="3378200"/>
            <a:ext cx="762000" cy="762000"/>
          </a:xfrm>
          <a:prstGeom prst="rect">
            <a:avLst/>
          </a:prstGeom>
        </p:spPr>
      </p:pic>
      <p:sp>
        <p:nvSpPr>
          <p:cNvPr name="TextBox 58" id="58"/>
          <p:cNvSpPr txBox="true"/>
          <p:nvPr/>
        </p:nvSpPr>
        <p:spPr>
          <a:xfrm rot="0">
            <a:off x="16548100" y="35179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7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449800" y="35306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트러블 슈팅 및 문제 해결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24">
            <a:alphaModFix amt="70000"/>
          </a:blip>
          <a:stretch>
            <a:fillRect/>
          </a:stretch>
        </p:blipFill>
        <p:spPr>
          <a:xfrm rot="0">
            <a:off x="15976600" y="6121400"/>
            <a:ext cx="7277100" cy="4394200"/>
          </a:xfrm>
          <a:prstGeom prst="rect">
            <a:avLst/>
          </a:prstGeom>
        </p:spPr>
      </p:pic>
      <p:sp>
        <p:nvSpPr>
          <p:cNvPr name="TextBox 61" id="61"/>
          <p:cNvSpPr txBox="true"/>
          <p:nvPr/>
        </p:nvSpPr>
        <p:spPr>
          <a:xfrm rot="0">
            <a:off x="16294100" y="6337300"/>
            <a:ext cx="6642100" cy="394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294100" y="4749800"/>
            <a:ext cx="6731000" cy="180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[Issue 1] 시연 중 클라우드 DB 오염 방지 </a:t>
            </a:r>
          </a:p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아키텍처
- [Issue 2] LLM Function Calling 정보 왜곡 </a:t>
            </a:r>
          </a:p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현상 버그 제어</a:t>
            </a:r>
          </a:p>
        </p:txBody>
      </p:sp>
      <p:pic>
        <p:nvPicPr>
          <p:cNvPr name="Picture 63" id="6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94100" y="7899400"/>
            <a:ext cx="6629400" cy="254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446500" y="6756400"/>
            <a:ext cx="762000" cy="762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16459200" y="6769100"/>
            <a:ext cx="762000" cy="762000"/>
          </a:xfrm>
          <a:prstGeom prst="rect">
            <a:avLst/>
          </a:prstGeom>
        </p:spPr>
      </p:pic>
      <p:sp>
        <p:nvSpPr>
          <p:cNvPr name="TextBox 66" id="66"/>
          <p:cNvSpPr txBox="true"/>
          <p:nvPr/>
        </p:nvSpPr>
        <p:spPr>
          <a:xfrm rot="0">
            <a:off x="16548100" y="6896100"/>
            <a:ext cx="5588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ctr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8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449800" y="6921500"/>
            <a:ext cx="557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결론 및 향후 계획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294100" y="8128000"/>
            <a:ext cx="67310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한계점 및 향후 계획</a:t>
            </a:r>
          </a:p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결론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프로젝트 개요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12573000" cy="7797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55800" y="5575300"/>
            <a:ext cx="113665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900" y="5956300"/>
            <a:ext cx="12674600" cy="1422400"/>
          </a:xfrm>
          <a:prstGeom prst="rect">
            <a:avLst/>
          </a:prstGeom>
        </p:spPr>
        <p:txBody>
          <a:bodyPr anchor="b" rtlCol="false" lIns="0" tIns="0" rIns="0" bIns="17780"/>
          <a:lstStyle/>
          <a:p>
            <a:pPr algn="l" lvl="1" marL="342900" indent="-342900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 교통 관제 환경의 데이터적 특성</a:t>
            </a:r>
            <a:b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</a:b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   - 출퇴근 시간에 집중되는 심한 데이터 불균형(Right-skewed) 패턴 발생</a:t>
            </a:r>
            <a:b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</a:b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   - 돌발 사고 및 결함 데이터의 절대적 부족으로 인한 예측 난이도 상승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900" y="8089900"/>
            <a:ext cx="118872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이상탐지 시스템의 목적</a:t>
            </a:r>
            <a:b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</a:b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   - 예기치 못한 사고로 인한 추가적인 인명/재산 피해 방지</a:t>
            </a:r>
            <a:b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</a:b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   - 교통 흐름 유지 및 관제 비용의 획기적 절감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3581400"/>
            <a:ext cx="136906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지능형 고속도로 이상탐지의 필요성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55800" y="6007100"/>
            <a:ext cx="9182100" cy="5168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기존 딥러닝 접근 및 한계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429000"/>
            <a:ext cx="220980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기존 딥러닝 모델의 성능적 한계와 설명력 부실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102743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41500" y="5575300"/>
            <a:ext cx="93091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5524500"/>
            <a:ext cx="96901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기존 접근 방식 (단순 객체 탐지)
  - YOLOv8 단일 모델은 실시간 속도는 빠르나, 시간의 흐름(Context)을 이해하지 못해 잦은 오탐 발생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8242300"/>
            <a:ext cx="96901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기존 접근의 치명적 한계 (Black-box 현상)
  - 알람(Anomaly Score)은 울리지만, 왜 위험한지 판단 근거를 설명하지 못함
  - 관제사가 신뢰할 수 있는 '수학적/시각적 근거' 부재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77700" y="5524500"/>
            <a:ext cx="11404600" cy="6388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확장 목표 및 시스템 구조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540000" y="6502400"/>
            <a:ext cx="2209800" cy="441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6781800" y="4292600"/>
            <a:ext cx="2209800" cy="441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010900" y="6502400"/>
            <a:ext cx="2209800" cy="4419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2540000" y="4292600"/>
            <a:ext cx="2209800" cy="441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9481800" y="6616700"/>
            <a:ext cx="2209800" cy="441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5252700" y="4292600"/>
            <a:ext cx="2209800" cy="4419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5252700" y="6502400"/>
            <a:ext cx="2209800" cy="4419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25600" y="5588000"/>
            <a:ext cx="4051300" cy="4051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12900" y="5588000"/>
            <a:ext cx="4051300" cy="4051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6781800" y="6502400"/>
            <a:ext cx="2209800" cy="441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854700" y="5588000"/>
            <a:ext cx="4051300" cy="4051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1010900" y="4292600"/>
            <a:ext cx="2209800" cy="4419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096500" y="5588000"/>
            <a:ext cx="4051300" cy="4051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082800" y="7950200"/>
            <a:ext cx="31369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1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영상 인식 파트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5300" y="10337800"/>
            <a:ext cx="37084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YOLOv8 Medium 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(실시간 30FPS 대응을 위한 경량화 모델 채택)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11900" y="7950200"/>
            <a:ext cx="31369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1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Deep Learning 파트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53700" y="7950200"/>
            <a:ext cx="31369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1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AI 근거 설명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82800" y="8039100"/>
            <a:ext cx="31369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1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LLM 파트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5400000">
            <a:off x="19494500" y="4356100"/>
            <a:ext cx="2209800" cy="4419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567400" y="5638800"/>
            <a:ext cx="4051300" cy="40513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6324600" y="10337800"/>
            <a:ext cx="37084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 TensorFlow/Keras (LSTM Autoencoder, GRU 앙상블 구현)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25100" y="10337800"/>
            <a:ext cx="37592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SHAP Beeswarm Plot 분석 (Tree/Deep Explainer를 활용한 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피처 기여도 추출)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52600" y="10337800"/>
            <a:ext cx="38100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 Llama-3.3-70b / RAG / Function Calling 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(지능형 에이전트 구축)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745200" y="10337800"/>
            <a:ext cx="37084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Streamlit 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(대시보드 실시간 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렌더링)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273300" y="6286500"/>
            <a:ext cx="2743200" cy="914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515100" y="6184900"/>
            <a:ext cx="2743200" cy="15367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9024600" y="7950200"/>
            <a:ext cx="31369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1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화면 배포 파트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290800" y="6184900"/>
            <a:ext cx="2311400" cy="1536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278600" y="6184900"/>
            <a:ext cx="2628900" cy="1536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934700" y="6184900"/>
            <a:ext cx="2552700" cy="14859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752600" y="3441700"/>
            <a:ext cx="181229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End-to-End 파이프라인 아키텍처 및 기술 스택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확장 목표 및 시스템 구조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2197100" y="10871200"/>
            <a:ext cx="20713700" cy="3187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200400" y="2857500"/>
            <a:ext cx="18694400" cy="1920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17800" y="10871200"/>
            <a:ext cx="9944100" cy="2628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로그 변환 (Log-Transformation)의 논리적 근거
  - 고속도로 트래픽 특유의 심한 왜곡(Right-skewed)을 완화하기 위해 적용
  - 변환 후 StandardScaler를 적용하여 이상치(Outlier)에 대한 </a:t>
            </a:r>
          </a:p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모델의 과적합 방지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3606800"/>
            <a:ext cx="161417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데이터 전처리 및 시계열 윈도우 설계 근거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96900" y="10871200"/>
            <a:ext cx="94869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시계열 윈도우 (Lookback Window) 설계
  - 과거 10 프레임(Lookback=10)의 흐름을 텐서(3D Shape)로 묶어 모델의 입력 데이터로 구성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08400" y="5283200"/>
            <a:ext cx="169799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모델 구성 및 비교 기준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187960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LSTM Autoencoder 이상탐지 구조 및 평가 지표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89408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78000" y="5575300"/>
            <a:ext cx="81153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5892800"/>
            <a:ext cx="81153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병목(Bottleneck) 구조 설계 근거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  - 핵심 피처만 16-Neuron으로 압축(Encoding) 후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복원(Decoding)하여 정상 패턴을 학습하는 구조 채택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8585200"/>
            <a:ext cx="82423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평가 지표 (Loss Metric)
  - 재구성 오차 측정을 위해 MSE(Mean Squared Error)를 Loss로 사용하여, 정상 패턴에서 벗어난 사고 프레임의 에러값을 극대화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312400" y="5524500"/>
            <a:ext cx="12954000" cy="713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모델 구성 및 비교 기준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17005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t+1 시계열 예측 모델 벤치마크 및 최종 선정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201400" y="5334000"/>
            <a:ext cx="12687300" cy="7175500"/>
          </a:xfrm>
          <a:prstGeom prst="rect">
            <a:avLst/>
          </a:prstGeom>
        </p:spPr>
      </p:pic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409700" y="5969000"/>
          <a:ext cx="9779000" cy="5524500"/>
        </p:xfrm>
        <a:graphic>
          <a:graphicData uri="http://schemas.openxmlformats.org/drawingml/2006/table">
            <a:tbl>
              <a:tblPr/>
              <a:tblGrid>
                <a:gridCol w="3261281"/>
                <a:gridCol w="3261281"/>
                <a:gridCol w="3261281"/>
              </a:tblGrid>
              <a:tr h="137978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모델명</a:t>
                      </a:r>
                      <a:endParaRPr lang="en-US" sz="1100"/>
                    </a:p>
                  </a:txBody>
                  <a:tcPr anchor="ctr" marL="25400" marT="69758" marR="25400" marB="69758">
                    <a:lnL w="16302" cmpd="sng" algn="ctr" cap="flat">
                      <a:solidFill>
                        <a:srgbClr val="855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302" cmpd="sng" algn="ctr" cap="flat">
                      <a:solidFill>
                        <a:srgbClr val="855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5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R2-Score</a:t>
                      </a:r>
                      <a:endParaRPr lang="en-US" sz="1100"/>
                    </a:p>
                  </a:txBody>
                  <a:tcPr anchor="ctr" marL="25400" marT="69758" marR="25400" marB="69758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302" cmpd="sng" algn="ctr" cap="flat">
                      <a:solidFill>
                        <a:srgbClr val="855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5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평가 및 특징</a:t>
                      </a:r>
                      <a:endParaRPr lang="en-US" sz="1100"/>
                    </a:p>
                  </a:txBody>
                  <a:tcPr anchor="ctr" marL="25400" marT="69758" marR="25400" marB="69758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302" cmpd="sng" algn="ctr" cap="flat">
                      <a:solidFill>
                        <a:srgbClr val="855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58FF"/>
                    </a:solidFill>
                  </a:tcPr>
                </a:tc>
              </a:tr>
              <a:tr h="137978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1D-CNN</a:t>
                      </a:r>
                      <a:endParaRPr lang="en-US" sz="1100"/>
                    </a:p>
                  </a:txBody>
                  <a:tcPr anchor="ctr" marL="25400" marT="66799" marR="25400" marB="667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0.773</a:t>
                      </a:r>
                      <a:endParaRPr lang="en-US" sz="1100"/>
                    </a:p>
                  </a:txBody>
                  <a:tcPr anchor="ctr" marL="25400" marT="66799" marR="25400" marB="667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국소적 특징만 포착하여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 장기 예측에 취약</a:t>
                      </a:r>
                    </a:p>
                  </a:txBody>
                  <a:tcPr anchor="ctr" marL="25400" marT="66799" marR="25400" marB="667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978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LSTM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0.842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장기 기억력으로 가장 높은 예측력 달성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37978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GRU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0.777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연산량 30% 감소 및 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파라미터 최적화 달성</a:t>
                      </a:r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C5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714500" y="12014200"/>
            <a:ext cx="221361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GRU 최종 채택의 기술적 근거
  - 점수가 미세하게 낮더라도, 관제 서버의 실시간 연산 부하(30FPS)를 최소화하기 위해 '경량화된 GRU' 채택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결과 및 시각적 사례 분석 (XAI)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02184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MSE 재구성 오차 분포 및 임계값(Threshold) 방어선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96647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16100" y="5575300"/>
            <a:ext cx="87630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6172200"/>
            <a:ext cx="90170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오차 분포의 시각적/수학적 분리: 
  - 정상 교통량(파란색)과 돌발 사고/정체(빨간색) 구간의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재구성 오차 분포를 명확히 분리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8750300"/>
            <a:ext cx="90170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임계값 설정의 근거: 
  - 통계적 분석을 통해 명확한 탐지 임계값(Threshold 25.0)을 도출하여 시스템의 객관적 신뢰성 확보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41100" y="5524500"/>
            <a:ext cx="123190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결과 및 시각적 사례 분석 (XAI)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179959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SHAP 기반 정체 유발 핵심 변수(Feature) 규명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97409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16100" y="5575300"/>
            <a:ext cx="88265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6172200"/>
            <a:ext cx="89662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판단 근거의 투명성(Transparency) 확보: 
  - AI가 왜 해당 프레임을 '위험(Anomaly)'으로 판단했는지 그 '이유'를 역추적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8750300"/>
            <a:ext cx="89662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핵심 원인 도출: 
  - 수많은 변수 중 '대형 트럭(Truck) 유입 급증' 등 특정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요소가 예측에 미친 기여도를 정량적으로 시각화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66500" y="5524500"/>
            <a:ext cx="122809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LLM 기반 지능형 관제 에이전트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346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RAG 및 자율 도구 제어 기반 능동형 AI 에이전트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03300" y="4876800"/>
            <a:ext cx="8369300" cy="8407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28800" y="5016500"/>
            <a:ext cx="10299700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LLM 기반 지능형 관제 에이전트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346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RPA 기술 융합: LLM 관제 보고서(.docx) 자동화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93400" y="5524500"/>
            <a:ext cx="6781800" cy="530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780000" y="5524500"/>
            <a:ext cx="5486400" cy="5308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57400" y="5232400"/>
            <a:ext cx="8318500" cy="8242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실시간 CCTV 딥러닝 비전 관제 (Live)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47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실시간 객체 추적 및 통행량 자동 계수 엔진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94996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03400" y="5575300"/>
            <a:ext cx="86106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900" y="5524500"/>
            <a:ext cx="87884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딥러닝 비전(YOLOv8) 실시간 트래킹:
  - 단순 객체 인식을 넘어, 차량의 연속적인 이동 궤적(Trajectory)을 파란색 동선으로 시각화하여 차선 변경 및 감속 패턴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3900" y="8178800"/>
            <a:ext cx="89535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가상 통제선(Virtual Line) 기반 차종별 계수:
  - 화면 중앙에 노란색 가상 통제선을 설정하고, 이를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통과하는 객체를 차종(승용차, 버스, 트럭)별로 실시간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카운팅하여 백엔드 DB에 자동 적재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19300" y="10579100"/>
            <a:ext cx="89535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야간 환경의 모델 강건성:
  - 조도가 낮고 헤드라이트 빛 번짐이 존재하는 야간 CCTV 환경에서도 다수의 차량을 안정적으로 탐지하여 통행량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계수 정확도 확보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07800" y="5740400"/>
            <a:ext cx="12052300" cy="6667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LLM 기반 지능형 관제 에이전트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47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자연어 기반 DB 조회 및 정보 왜곡(거짓 정보) 차단 시연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94996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03400" y="5575300"/>
            <a:ext cx="86106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900" y="5524500"/>
            <a:ext cx="87884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관제사가 "최근 1시간 교통량 어때?"라고 자연어로 질문하면, LLM이 과거 DB를 스스로 조회하여 '평균 혼잡도', '차종별 대수', '이상 감지 횟수' 등 핵심 수치 요약 보고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8500" y="8178800"/>
            <a:ext cx="90043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시스템 신뢰성 확보 (정보 왜곡 방지):
  - "7월 2일"과 같이 DB에 적재되지 않은 데이터를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요구할 경우, AI가 임의의 정보를 생성하지 않고 "기록이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존재하지 않아 조회가 불가능하다"고 답변하도록 예외 처리 로직 구현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42900" y="5181600"/>
            <a:ext cx="9486900" cy="802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트러블 슈팅 및 문제 해결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47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[Issue 1] 시연 중 클라우드 DB 오염 방지 아키텍처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94996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03400" y="5575300"/>
            <a:ext cx="86106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900" y="5524500"/>
            <a:ext cx="87884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문제 발생 (Problem)
  - 시연용 '돌발 정체 주입(Stress Test)' 기능 작동 중,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시뮬레이션용으로 생성된 가상의 혼잡도 데이터가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클라우드 DB(Supabase)에 실시간 적재되어 전체 통계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로직에 오류가 발생하는 현상 발견.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3900" y="8674100"/>
            <a:ext cx="8953500" cy="298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문제 해결 (Solution)
  - DB 비동기 적재 함수 호출 직전에 `stress_test_active`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상태를 검증하는 예외 처리문을 삽입함.
  - 가짜 데이터가 도는 15프레임 동안은 DB 기록을 일시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정지(Pause)시키고, 시연 종료 즉시 실제 CCTV 데이터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적재를 자동 재개하는 안전한 백엔드 아키텍처로 개선 완료.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61800" y="5181600"/>
            <a:ext cx="8534400" cy="838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09400" y="9626600"/>
            <a:ext cx="8801100" cy="1320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0510500" y="9791700"/>
            <a:ext cx="38227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실제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SUPABASE DB에서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15프레임 동안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DB 기록 정지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트러블 슈팅 및 문제 해결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47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[Issue 2] LLM Function Calling 정보 왜곡 현상 버그 제어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58900" y="5181600"/>
            <a:ext cx="9499600" cy="779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803400" y="5575300"/>
            <a:ext cx="8610600" cy="701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900" y="5524500"/>
            <a:ext cx="87884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문제 발생 (Problem)
  - LLM이 과거 데이터를 직접 조회하는 Function Calling 수행 시, 경량 모델에서 잦은 에러(`tool_use_failed`) 및 정보 왜곡(거짓 정보) 현상 발생으로 정확한 과거 정보 RAG 검색이 불가능해짐.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3900" y="8674100"/>
            <a:ext cx="8953500" cy="3479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문제 해결 (Solution)
  - 에러가 잦은 모델을 폐기하고, 토큰 처리가 안정적인 대형 모델(Llama-3.3-70b)을 기본 탑재함.
  - LLM이 시간 범위를 명확히 인식하도록 정규식 기반 시간 파서(Date Parser)를 백엔드에 구축.
  - 추가로 클라우드 API 장애에 대비하여 Local LLM 연동 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오프라인 롤백 기능을 마련하여 시스템 안정성 극대화.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38100" y="5181600"/>
            <a:ext cx="9461500" cy="8102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한계점 및 향후 계획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3606800"/>
            <a:ext cx="228473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프로젝트의 한계점 및 향후 계획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175000" y="4864100"/>
            <a:ext cx="5791200" cy="875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05200" y="5524500"/>
            <a:ext cx="2146300" cy="214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505200" y="5524500"/>
            <a:ext cx="2146300" cy="2146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505200" y="8178800"/>
            <a:ext cx="5219700" cy="863600"/>
          </a:xfrm>
          <a:prstGeom prst="rect">
            <a:avLst/>
          </a:prstGeom>
        </p:spPr>
        <p:txBody>
          <a:bodyPr anchor="t" rtlCol="false" lIns="0" tIns="33016" rIns="0" bIns="0"/>
          <a:lstStyle/>
          <a:p>
            <a:pPr algn="l" lvl="0">
              <a:lnSpc>
                <a:spcPct val="99600"/>
              </a:lnSpc>
            </a:pPr>
            <a:r>
              <a:rPr lang="en-US" sz="2599" b="false" i="false" u="none" strike="noStrike" cap="all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한계 1: 탐지 객체(Class)의 다양성 </a:t>
            </a:r>
          </a:p>
          <a:p>
            <a:pPr algn="l" lvl="0">
              <a:lnSpc>
                <a:spcPct val="99600"/>
              </a:lnSpc>
            </a:pPr>
            <a:r>
              <a:rPr lang="en-US" sz="2599" b="false" i="false" u="none" strike="noStrike" cap="all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부족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5200" y="9563100"/>
            <a:ext cx="5207000" cy="337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  - 한계점: 현재 승용차, 버스, 트럭 등 대형 차량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위주로 탐지하고 있어, 실제 교통사고 유발률이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높은 오토바이, 보행자 등의 소형 객체 탐지에는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제약이 있음.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
  - 향후 계획: 이륜차 및 보행자 이미지 학습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데이터를 추가 확보하여, 스쿨존이나 복잡한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교차로에서도 골목길 사고 예방이 가능하도록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 탐지 범위 확장.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296400" y="4864100"/>
            <a:ext cx="5791200" cy="8750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626600" y="5524500"/>
            <a:ext cx="2159000" cy="2159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26600" y="5524500"/>
            <a:ext cx="2159000" cy="2159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626600" y="8191500"/>
            <a:ext cx="5219700" cy="863600"/>
          </a:xfrm>
          <a:prstGeom prst="rect">
            <a:avLst/>
          </a:prstGeom>
        </p:spPr>
        <p:txBody>
          <a:bodyPr anchor="t" rtlCol="false" lIns="0" tIns="33016" rIns="0" bIns="0"/>
          <a:lstStyle/>
          <a:p>
            <a:pPr algn="l" lvl="0">
              <a:lnSpc>
                <a:spcPct val="99600"/>
              </a:lnSpc>
            </a:pPr>
            <a:r>
              <a:rPr lang="en-US" sz="2599" b="false" i="false" u="none" strike="noStrike" cap="all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한계 2: LLM API 호출 지연(Latency) 및 비용 문제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0" y="9563100"/>
            <a:ext cx="5257800" cy="299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- 한계점: LLM이 실시간 데이터를 읽고 상황을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분석할 때마다 클라우드 API 통신 딜레이가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발생하며, 상시 호출 시 과금 비용 부담이 존재함.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
  - 향후 계획: 모든 상황에서 LLM을 호출하지 않고, 혼잡도 70% 초과나 '이상 상황(Anomaly)'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감지 시에만 LLM 보고서가 트리거(Trigger)되도록 로직을 개선하여 비용과 속도 최적화.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17800" y="4864100"/>
            <a:ext cx="5791200" cy="8750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48000" y="5524500"/>
            <a:ext cx="2159000" cy="2159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748000" y="5524500"/>
            <a:ext cx="2159000" cy="2159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5659100" y="8191500"/>
            <a:ext cx="5410200" cy="863600"/>
          </a:xfrm>
          <a:prstGeom prst="rect">
            <a:avLst/>
          </a:prstGeom>
        </p:spPr>
        <p:txBody>
          <a:bodyPr anchor="t" rtlCol="false" lIns="0" tIns="33016" rIns="0" bIns="0"/>
          <a:lstStyle/>
          <a:p>
            <a:pPr algn="l" lvl="0">
              <a:lnSpc>
                <a:spcPct val="99600"/>
              </a:lnSpc>
            </a:pPr>
            <a:r>
              <a:rPr lang="en-US" sz="2599" b="false" i="false" u="none" strike="noStrike" cap="all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한계 3: 영상 스트리밍과 LLM 챗봇의 동시 실행(비동기 처리) 한계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48000" y="9563100"/>
            <a:ext cx="5207000" cy="337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- 한계점: 현재 프론트엔드(Streamlit)의 구조적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한계로 인해, CCTV 영상을 실시간 렌더링하는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동안에는 메인 스레드가 블로킹(Blocking)되어 LLM 채팅 기능을 동시에 사용할 수 없음.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
  - 향후 계획: 프론트엔드를 React.js와 FastAPI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웹소켓(WebSocket) 기반의 비동기 아키텍처로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전면 개편하여, 끊김 없는 영상 스트리밍과 LLM </a:t>
            </a:r>
          </a:p>
          <a:p>
            <a:pPr algn="l" lvl="0">
              <a:lnSpc>
                <a:spcPct val="124499"/>
              </a:lnSpc>
            </a:pPr>
            <a:r>
              <a:rPr lang="en-US" sz="1982" b="false" i="false" u="none" strike="noStrike" spc="-100">
                <a:solidFill>
                  <a:srgbClr val="272424"/>
                </a:solidFill>
                <a:latin typeface="NanumGothic"/>
                <a:ea typeface="NanumGothic"/>
                <a:cs typeface="NanumGothic"/>
              </a:rPr>
              <a:t>관제 대화가 독립적(병렬)으로 동작하도록 고도화.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797300" y="5791200"/>
            <a:ext cx="1651000" cy="1651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248900" y="6032500"/>
            <a:ext cx="977900" cy="1181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014700" y="6032500"/>
            <a:ext cx="14224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39700"/>
            <a:ext cx="24663400" cy="566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16000"/>
            <a:ext cx="24066500" cy="132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542500" y="571500"/>
            <a:ext cx="7239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2133600" y="5257800"/>
            <a:ext cx="21132800" cy="8051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136900" y="5664200"/>
            <a:ext cx="19113500" cy="723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30" b="false" i="false" u="none" strike="noStrike">
                <a:solidFill>
                  <a:srgbClr val="FAFAFA">
                    <a:alpha val="70196"/>
                  </a:srgbClr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1930400"/>
            <a:ext cx="22148800" cy="1511300"/>
          </a:xfrm>
          <a:prstGeom prst="rect">
            <a:avLst/>
          </a:prstGeom>
        </p:spPr>
        <p:txBody>
          <a:bodyPr anchor="ctr" rtlCol="false" lIns="0" tIns="108373" rIns="0" bIns="108373"/>
          <a:lstStyle/>
          <a:p>
            <a:pPr algn="l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33428E"/>
                </a:solidFill>
                <a:latin typeface="NanumGothic"/>
                <a:ea typeface="NanumGothic"/>
                <a:cs typeface="NanumGothic"/>
              </a:rPr>
              <a:t>결론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8100" y="5765800"/>
            <a:ext cx="11620500" cy="596900"/>
          </a:xfrm>
          <a:prstGeom prst="rect">
            <a:avLst/>
          </a:prstGeom>
        </p:spPr>
        <p:txBody>
          <a:bodyPr anchor="b" rtlCol="false" lIns="0" tIns="0" rIns="0" bIns="21167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데이터 기반의 AI 파이프라인 구축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8100" y="6591300"/>
            <a:ext cx="1809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비전 딥러닝 트래킹부터 LLM 기반 에이전트, DB 아키텍처, 트러블 슈팅까지 전 과정에 실무적 엔지니어링 근거 적용.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3479800"/>
            <a:ext cx="95377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결론 및 최종 기대 효과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8100" y="7658100"/>
            <a:ext cx="11620500" cy="596900"/>
          </a:xfrm>
          <a:prstGeom prst="rect">
            <a:avLst/>
          </a:prstGeom>
        </p:spPr>
        <p:txBody>
          <a:bodyPr anchor="b" rtlCol="false" lIns="0" tIns="0" rIns="0" bIns="21167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시스템 신뢰성(Trust) 확보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8100" y="8483600"/>
            <a:ext cx="1809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AI의 판단 과정(수치화, 시각화)을 관제사가 투명하게 모니터링할 수 있도록 설계하여 Black-box 모델의 한계 극복.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8100" y="9563100"/>
            <a:ext cx="11620500" cy="596900"/>
          </a:xfrm>
          <a:prstGeom prst="rect">
            <a:avLst/>
          </a:prstGeom>
        </p:spPr>
        <p:txBody>
          <a:bodyPr anchor="b" rtlCol="false" lIns="0" tIns="0" rIns="0" bIns="21167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비즈니스 임팩트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78100" y="10388600"/>
            <a:ext cx="1809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- 지능형 상황 전파 및 자동화된 문서 보고를 통해, 관제 인력의 업무 피로도를 경감하고 의사결정 '골든타임' 확보에 기여.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05D9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41300" y="4724400"/>
            <a:ext cx="24841200" cy="8991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00100" y="6337300"/>
            <a:ext cx="227965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3333" b="false" i="false" u="none" strike="noStrike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